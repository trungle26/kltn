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8288000" cy="10287000"/>
  <p:notesSz cx="6858000" cy="9144000"/>
  <p:embeddedFontLst>
    <p:embeddedFont>
      <p:font typeface="Arial Bold" charset="1" panose="020B0802020202020204"/>
      <p:regular r:id="rId47"/>
    </p:embeddedFont>
    <p:embeddedFont>
      <p:font typeface="Asap Bold" charset="1" panose="020F0804030202060203"/>
      <p:regular r:id="rId49"/>
    </p:embeddedFont>
    <p:embeddedFont>
      <p:font typeface="Montserrat Bold" charset="1" panose="00000800000000000000"/>
      <p:regular r:id="rId50"/>
    </p:embeddedFont>
    <p:embeddedFont>
      <p:font typeface="Montserrat Ultra-Bold" charset="1" panose="00000900000000000000"/>
      <p:regular r:id="rId52"/>
    </p:embeddedFont>
    <p:embeddedFont>
      <p:font typeface="Asap" charset="1" panose="020F0504030202060203"/>
      <p:regular r:id="rId53"/>
    </p:embeddedFont>
    <p:embeddedFont>
      <p:font typeface="Montserrat" charset="1" panose="00000500000000000000"/>
      <p:regular r:id="rId62"/>
    </p:embeddedFont>
    <p:embeddedFont>
      <p:font typeface="Montserrat Medium" charset="1" panose="00000600000000000000"/>
      <p:regular r:id="rId83"/>
    </p:embeddedFont>
    <p:embeddedFont>
      <p:font typeface="Montserrat Classic Bold" charset="1" panose="00000800000000000000"/>
      <p:regular r:id="rId8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notesMasters/notesMaster1.xml" Type="http://schemas.openxmlformats.org/officeDocument/2006/relationships/notesMaster"/><Relationship Id="rId45" Target="theme/theme2.xml" Type="http://schemas.openxmlformats.org/officeDocument/2006/relationships/theme"/><Relationship Id="rId46" Target="notesSlides/notesSlide1.xml" Type="http://schemas.openxmlformats.org/officeDocument/2006/relationships/notesSlide"/><Relationship Id="rId47" Target="fonts/font47.fntdata" Type="http://schemas.openxmlformats.org/officeDocument/2006/relationships/font"/><Relationship Id="rId48" Target="notesSlides/notesSlide2.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notesSlides/notesSlide3.xml" Type="http://schemas.openxmlformats.org/officeDocument/2006/relationships/notesSlide"/><Relationship Id="rId52" Target="fonts/font52.fntdata" Type="http://schemas.openxmlformats.org/officeDocument/2006/relationships/font"/><Relationship Id="rId53" Target="fonts/font53.fntdata" Type="http://schemas.openxmlformats.org/officeDocument/2006/relationships/font"/><Relationship Id="rId54" Target="notesSlides/notesSlide4.xml" Type="http://schemas.openxmlformats.org/officeDocument/2006/relationships/notesSlide"/><Relationship Id="rId55" Target="notesSlides/notesSlide5.xml" Type="http://schemas.openxmlformats.org/officeDocument/2006/relationships/notesSlide"/><Relationship Id="rId56" Target="notesSlides/notesSlide6.xml" Type="http://schemas.openxmlformats.org/officeDocument/2006/relationships/notesSlide"/><Relationship Id="rId57" Target="notesSlides/notesSlide7.xml" Type="http://schemas.openxmlformats.org/officeDocument/2006/relationships/notesSlide"/><Relationship Id="rId58" Target="notesSlides/notesSlide8.xml" Type="http://schemas.openxmlformats.org/officeDocument/2006/relationships/notesSlide"/><Relationship Id="rId59" Target="notesSlides/notesSlide9.xml" Type="http://schemas.openxmlformats.org/officeDocument/2006/relationships/notesSlide"/><Relationship Id="rId6" Target="slides/slide1.xml" Type="http://schemas.openxmlformats.org/officeDocument/2006/relationships/slide"/><Relationship Id="rId60" Target="notesSlides/notesSlide10.xml" Type="http://schemas.openxmlformats.org/officeDocument/2006/relationships/notesSlide"/><Relationship Id="rId61" Target="notesSlides/notesSlide11.xml" Type="http://schemas.openxmlformats.org/officeDocument/2006/relationships/notesSlide"/><Relationship Id="rId62" Target="fonts/font62.fntdata" Type="http://schemas.openxmlformats.org/officeDocument/2006/relationships/font"/><Relationship Id="rId63" Target="notesSlides/notesSlide12.xml" Type="http://schemas.openxmlformats.org/officeDocument/2006/relationships/notesSlide"/><Relationship Id="rId64" Target="notesSlides/notesSlide13.xml" Type="http://schemas.openxmlformats.org/officeDocument/2006/relationships/notesSlide"/><Relationship Id="rId65" Target="notesSlides/notesSlide14.xml" Type="http://schemas.openxmlformats.org/officeDocument/2006/relationships/notesSlide"/><Relationship Id="rId66" Target="notesSlides/notesSlide15.xml" Type="http://schemas.openxmlformats.org/officeDocument/2006/relationships/notesSlide"/><Relationship Id="rId67" Target="notesSlides/notesSlide16.xml" Type="http://schemas.openxmlformats.org/officeDocument/2006/relationships/notesSlide"/><Relationship Id="rId68" Target="notesSlides/notesSlide17.xml" Type="http://schemas.openxmlformats.org/officeDocument/2006/relationships/notesSlide"/><Relationship Id="rId69" Target="notesSlides/notesSlide18.xml" Type="http://schemas.openxmlformats.org/officeDocument/2006/relationships/notesSlide"/><Relationship Id="rId7" Target="slides/slide2.xml" Type="http://schemas.openxmlformats.org/officeDocument/2006/relationships/slide"/><Relationship Id="rId70" Target="notesSlides/notesSlide19.xml" Type="http://schemas.openxmlformats.org/officeDocument/2006/relationships/notesSlide"/><Relationship Id="rId71" Target="notesSlides/notesSlide20.xml" Type="http://schemas.openxmlformats.org/officeDocument/2006/relationships/notesSlide"/><Relationship Id="rId72" Target="notesSlides/notesSlide21.xml" Type="http://schemas.openxmlformats.org/officeDocument/2006/relationships/notesSlide"/><Relationship Id="rId73" Target="notesSlides/notesSlide22.xml" Type="http://schemas.openxmlformats.org/officeDocument/2006/relationships/notesSlide"/><Relationship Id="rId74" Target="notesSlides/notesSlide23.xml" Type="http://schemas.openxmlformats.org/officeDocument/2006/relationships/notesSlide"/><Relationship Id="rId75" Target="notesSlides/notesSlide24.xml" Type="http://schemas.openxmlformats.org/officeDocument/2006/relationships/notesSlide"/><Relationship Id="rId76" Target="notesSlides/notesSlide25.xml" Type="http://schemas.openxmlformats.org/officeDocument/2006/relationships/notesSlide"/><Relationship Id="rId77" Target="notesSlides/notesSlide26.xml" Type="http://schemas.openxmlformats.org/officeDocument/2006/relationships/notesSlide"/><Relationship Id="rId78" Target="notesSlides/notesSlide27.xml" Type="http://schemas.openxmlformats.org/officeDocument/2006/relationships/notesSlide"/><Relationship Id="rId79" Target="notesSlides/notesSlide28.xml" Type="http://schemas.openxmlformats.org/officeDocument/2006/relationships/notesSlide"/><Relationship Id="rId8" Target="slides/slide3.xml" Type="http://schemas.openxmlformats.org/officeDocument/2006/relationships/slide"/><Relationship Id="rId80" Target="notesSlides/notesSlide29.xml" Type="http://schemas.openxmlformats.org/officeDocument/2006/relationships/notesSlide"/><Relationship Id="rId81" Target="notesSlides/notesSlide30.xml" Type="http://schemas.openxmlformats.org/officeDocument/2006/relationships/notesSlide"/><Relationship Id="rId82" Target="notesSlides/notesSlide31.xml" Type="http://schemas.openxmlformats.org/officeDocument/2006/relationships/notesSlide"/><Relationship Id="rId83" Target="fonts/font83.fntdata" Type="http://schemas.openxmlformats.org/officeDocument/2006/relationships/font"/><Relationship Id="rId84" Target="fonts/font84.fntdata" Type="http://schemas.openxmlformats.org/officeDocument/2006/relationships/font"/><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Xin chào thầy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Ý tưởng xuất phát từ nhu cầu ngày càng cao của người dùng về các giải pháp giải trí thông minh, an toàn khi lái xe. </a:t>
            </a:r>
          </a:p>
          <a:p>
            <a:r>
              <a:rPr lang="en-US"/>
              <a:t/>
            </a:r>
          </a:p>
          <a:p>
            <a:r>
              <a:rPr lang="en-US"/>
              <a:t>Android Automotive mang đến nền tảng mạnh mẽ, giúp phát triển các tính năng tiên tiến như giải trí định hướng cảm xúc, gợi ý nội dung cá nhân hóa, và hỗ trợ an toàn lái xe thông qua AI."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VibeRide có ba tính năng chính. </a:t>
            </a:r>
          </a:p>
          <a:p>
            <a:r>
              <a:rPr lang="en-US"/>
              <a:t/>
            </a:r>
          </a:p>
          <a:p>
            <a:r>
              <a:rPr lang="en-US"/>
              <a:t>Đầu tiên là giải trí định hướng cảm xúc, giúp người dùng trải nghiệm các nội dung phù hợp với tâm trạng, được xác định qua phân tích biểu cảm và giọng nói. </a:t>
            </a:r>
          </a:p>
          <a:p>
            <a:r>
              <a:rPr lang="en-US"/>
              <a:t/>
            </a:r>
          </a:p>
          <a:p>
            <a:r>
              <a:rPr lang="en-US"/>
              <a:t>Thứ hai, hệ thống gợi ý thông minh, được xây dựng bằng AI, cá nhân hóa nội dung dựa trên thói quen và sở thích của người dùng. </a:t>
            </a:r>
          </a:p>
          <a:p>
            <a:r>
              <a:rPr lang="en-US"/>
              <a:t/>
            </a:r>
          </a:p>
          <a:p>
            <a:r>
              <a:rPr lang="en-US"/>
              <a:t>Cuối cùng, ứng dụng còn đóng góp vào an toàn lái xe thông qua các cảnh báo thông minh, giúp phát hiện dấu hiệu mệt mỏi hoặc mất tập trung.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Kiến trúc của VibeRide được thiết kế với ba module chính. </a:t>
            </a:r>
          </a:p>
          <a:p>
            <a:r>
              <a:rPr lang="en-US"/>
              <a:t>Module cảm biến cảm xúc thu thập dữ liệu từ camera và micro để xác định tâm trạng người lái.</a:t>
            </a:r>
          </a:p>
          <a:p>
            <a:r>
              <a:rPr lang="en-US"/>
              <a:t/>
            </a:r>
          </a:p>
          <a:p>
            <a:r>
              <a:rPr lang="en-US"/>
              <a:t>Module gợi ý AI xử lý dữ liệu và đề xuất nội dung phù hợp. </a:t>
            </a:r>
          </a:p>
          <a:p>
            <a:r>
              <a:rPr lang="en-US"/>
              <a:t/>
            </a:r>
          </a:p>
          <a:p>
            <a:r>
              <a:rPr lang="en-US"/>
              <a:t>Cuối cùng, module giao diện người dùng hiển thị nội dung và thông tin một cách rõ ràng, đảm bảo không gây phân tâm khi lái xe.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Kiến trúc của VibeRide được thiết kế với ba module chính. </a:t>
            </a:r>
          </a:p>
          <a:p>
            <a:r>
              <a:rPr lang="en-US"/>
              <a:t>Module cảm biến cảm xúc thu thập dữ liệu từ camera và micro để xác định tâm trạng người lái.</a:t>
            </a:r>
          </a:p>
          <a:p>
            <a:r>
              <a:rPr lang="en-US"/>
              <a:t/>
            </a:r>
          </a:p>
          <a:p>
            <a:r>
              <a:rPr lang="en-US"/>
              <a:t>Module gợi ý AI xử lý dữ liệu và đề xuất nội dung phù hợp. </a:t>
            </a:r>
          </a:p>
          <a:p>
            <a:r>
              <a:rPr lang="en-US"/>
              <a:t/>
            </a:r>
          </a:p>
          <a:p>
            <a:r>
              <a:rPr lang="en-US"/>
              <a:t>Cuối cùng, module giao diện người dùng hiển thị nội dung và thông tin một cách rõ ràng, đảm bảo không gây phân tâm khi lái xe.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Kiến trúc của VibeRide được thiết kế với ba module chính. </a:t>
            </a:r>
          </a:p>
          <a:p>
            <a:r>
              <a:rPr lang="en-US"/>
              <a:t>Module cảm biến cảm xúc thu thập dữ liệu từ camera và micro để xác định tâm trạng người lái.</a:t>
            </a:r>
          </a:p>
          <a:p>
            <a:r>
              <a:rPr lang="en-US"/>
              <a:t/>
            </a:r>
          </a:p>
          <a:p>
            <a:r>
              <a:rPr lang="en-US"/>
              <a:t>Module gợi ý AI xử lý dữ liệu và đề xuất nội dung phù hợp. </a:t>
            </a:r>
          </a:p>
          <a:p>
            <a:r>
              <a:rPr lang="en-US"/>
              <a:t/>
            </a:r>
          </a:p>
          <a:p>
            <a:r>
              <a:rPr lang="en-US"/>
              <a:t>Cuối cùng, module giao diện người dùng hiển thị nội dung và thông tin một cách rõ ràng, đảm bảo không gây phân tâm khi lái xe.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Kiến trúc của VibeRide được thiết kế với ba module chính. </a:t>
            </a:r>
          </a:p>
          <a:p>
            <a:r>
              <a:rPr lang="en-US"/>
              <a:t>Module cảm biến cảm xúc thu thập dữ liệu từ camera và micro để xác định tâm trạng người lái.</a:t>
            </a:r>
          </a:p>
          <a:p>
            <a:r>
              <a:rPr lang="en-US"/>
              <a:t/>
            </a:r>
          </a:p>
          <a:p>
            <a:r>
              <a:rPr lang="en-US"/>
              <a:t>Module gợi ý AI xử lý dữ liệu và đề xuất nội dung phù hợp. </a:t>
            </a:r>
          </a:p>
          <a:p>
            <a:r>
              <a:rPr lang="en-US"/>
              <a:t/>
            </a:r>
          </a:p>
          <a:p>
            <a:r>
              <a:rPr lang="en-US"/>
              <a:t>Cuối cùng, module giao diện người dùng hiển thị nội dung và thông tin một cách rõ ràng, đảm bảo không gây phân tâm khi lái xe.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Kiến trúc của VibeRide được thiết kế với ba module chính. </a:t>
            </a:r>
          </a:p>
          <a:p>
            <a:r>
              <a:rPr lang="en-US"/>
              <a:t>Module cảm biến cảm xúc thu thập dữ liệu từ camera và micro để xác định tâm trạng người lái.</a:t>
            </a:r>
          </a:p>
          <a:p>
            <a:r>
              <a:rPr lang="en-US"/>
              <a:t/>
            </a:r>
          </a:p>
          <a:p>
            <a:r>
              <a:rPr lang="en-US"/>
              <a:t>Module gợi ý AI xử lý dữ liệu và đề xuất nội dung phù hợp. </a:t>
            </a:r>
          </a:p>
          <a:p>
            <a:r>
              <a:rPr lang="en-US"/>
              <a:t/>
            </a:r>
          </a:p>
          <a:p>
            <a:r>
              <a:rPr lang="en-US"/>
              <a:t>Cuối cùng, module giao diện người dùng hiển thị nội dung và thông tin một cách rõ ràng, đảm bảo không gây phân tâm khi lái xe.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Kiến trúc của VibeRide được thiết kế với ba module chính. </a:t>
            </a:r>
          </a:p>
          <a:p>
            <a:r>
              <a:rPr lang="en-US"/>
              <a:t>Module cảm biến cảm xúc thu thập dữ liệu từ camera và micro để xác định tâm trạng người lái.</a:t>
            </a:r>
          </a:p>
          <a:p>
            <a:r>
              <a:rPr lang="en-US"/>
              <a:t/>
            </a:r>
          </a:p>
          <a:p>
            <a:r>
              <a:rPr lang="en-US"/>
              <a:t>Module gợi ý AI xử lý dữ liệu và đề xuất nội dung phù hợp. </a:t>
            </a:r>
          </a:p>
          <a:p>
            <a:r>
              <a:rPr lang="en-US"/>
              <a:t/>
            </a:r>
          </a:p>
          <a:p>
            <a:r>
              <a:rPr lang="en-US"/>
              <a:t>Cuối cùng, module giao diện người dùng hiển thị nội dung và thông tin một cách rõ ràng, đảm bảo không gây phân tâm khi lái xe.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Android là một hệ điều hành với kiến trúc module hóa, giúp dễ dàng phát triển các ứng dụng. </a:t>
            </a:r>
          </a:p>
          <a:p>
            <a:r>
              <a:rPr lang="en-US"/>
              <a:t/>
            </a:r>
          </a:p>
          <a:p>
            <a:r>
              <a:rPr lang="en-US"/>
              <a:t>Điểm mạnh là Java API Framework, cho phép truy cập toàn bộ các tính năng của hệ thống, từ việc quản lý tài nguyên, hiển thị giao diện, đến quản lý vòng đời ứng dụng. </a:t>
            </a:r>
          </a:p>
          <a:p>
            <a:r>
              <a:rPr lang="en-US"/>
              <a:t/>
            </a:r>
          </a:p>
          <a:p>
            <a:r>
              <a:rPr lang="en-US"/>
              <a:t>Kiến trúc này đảm bảo sự linh hoạt và mạnh mẽ, là nền tảng quan trọng để xây dựng VibeRide.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Trong quá trình phát triển, em gặp một số thách thức : </a:t>
            </a:r>
          </a:p>
          <a:p>
            <a:r>
              <a:rPr lang="en-US"/>
              <a:t/>
            </a:r>
          </a:p>
          <a:p>
            <a:r>
              <a:rPr lang="en-US"/>
              <a:t>Việc tích hợp trực tiếp vào Android Automotive đòi hỏi rất nhiều thời gian và công sức. </a:t>
            </a:r>
          </a:p>
          <a:p>
            <a:r>
              <a:rPr lang="en-US"/>
              <a:t/>
            </a:r>
          </a:p>
          <a:p>
            <a:r>
              <a:rPr lang="en-US"/>
              <a:t>Vì vậy, em quyết định phát triển ứng dụng dưới dạng third-party app, dễ dàng triển khai và demo. </a:t>
            </a:r>
          </a:p>
          <a:p>
            <a:r>
              <a:rPr lang="en-US"/>
              <a:t/>
            </a:r>
          </a:p>
          <a:p>
            <a:r>
              <a:rPr lang="en-US"/>
              <a:t>Một thách thức khác là tối ưu hóa hiệu suất AI trên phần cứng hạn chế, nhưng TensorFlow Lite đã phần nào giải quyết được vấn đề này.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7.png" Type="http://schemas.openxmlformats.org/officeDocument/2006/relationships/image"/><Relationship Id="rId5" Target="../embeddings/oleObject1.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9.jpeg" Type="http://schemas.openxmlformats.org/officeDocument/2006/relationships/image"/><Relationship Id="rId4" Target="../media/VAGnr6eI7NY.mp4" Type="http://schemas.openxmlformats.org/officeDocument/2006/relationships/video"/><Relationship Id="rId5" Target="../media/VAGnr6eI7NY.mp4" Type="http://schemas.microsoft.com/office/2007/relationships/media"/></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0.jpeg" Type="http://schemas.openxmlformats.org/officeDocument/2006/relationships/image"/><Relationship Id="rId4" Target="../media/VAGnr09QBXY.mp4" Type="http://schemas.openxmlformats.org/officeDocument/2006/relationships/video"/><Relationship Id="rId5" Target="../media/VAGnr09QBXY.mp4" Type="http://schemas.microsoft.com/office/2007/relationships/media"/></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png" Type="http://schemas.openxmlformats.org/officeDocument/2006/relationships/image"/><Relationship Id="rId4"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png" Type="http://schemas.openxmlformats.org/officeDocument/2006/relationships/image"/><Relationship Id="rId4" Target="../media/image28.jpeg" Type="http://schemas.openxmlformats.org/officeDocument/2006/relationships/image"/><Relationship Id="rId5" Target="../media/VAGnrp2UdoI.mp4" Type="http://schemas.openxmlformats.org/officeDocument/2006/relationships/video"/><Relationship Id="rId6" Target="../media/VAGnrp2UdoI.mp4" Type="http://schemas.microsoft.com/office/2007/relationships/media"/></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png" Type="http://schemas.openxmlformats.org/officeDocument/2006/relationships/image"/><Relationship Id="rId4" Target="../media/image3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png" Type="http://schemas.openxmlformats.org/officeDocument/2006/relationships/image"/><Relationship Id="rId4" Target="../media/image32.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png" Type="http://schemas.openxmlformats.org/officeDocument/2006/relationships/image"/><Relationship Id="rId4" Target="../media/image3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png" Type="http://schemas.openxmlformats.org/officeDocument/2006/relationships/image"/><Relationship Id="rId4" Target="../media/image34.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png" Type="http://schemas.openxmlformats.org/officeDocument/2006/relationships/image"/><Relationship Id="rId4" Target="../media/image35.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png" Type="http://schemas.openxmlformats.org/officeDocument/2006/relationships/image"/><Relationship Id="rId4" Target="../media/image3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png" Type="http://schemas.openxmlformats.org/officeDocument/2006/relationships/image"/><Relationship Id="rId4" Target="../media/image37.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png" Type="http://schemas.openxmlformats.org/officeDocument/2006/relationships/image"/><Relationship Id="rId4" Target="../media/image38.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AutoShape 3" id="3"/>
          <p:cNvSpPr/>
          <p:nvPr/>
        </p:nvSpPr>
        <p:spPr>
          <a:xfrm>
            <a:off x="1596660" y="9048282"/>
            <a:ext cx="4328849" cy="0"/>
          </a:xfrm>
          <a:prstGeom prst="line">
            <a:avLst/>
          </a:prstGeom>
          <a:ln cap="flat" w="19050">
            <a:solidFill>
              <a:srgbClr val="0D3B8A"/>
            </a:solidFill>
            <a:prstDash val="solid"/>
            <a:headEnd type="none" len="sm" w="sm"/>
            <a:tailEnd type="none" len="sm" w="sm"/>
          </a:ln>
        </p:spPr>
      </p:sp>
      <p:sp>
        <p:nvSpPr>
          <p:cNvPr name="Freeform 4" id="4"/>
          <p:cNvSpPr/>
          <p:nvPr/>
        </p:nvSpPr>
        <p:spPr>
          <a:xfrm flipH="false" flipV="false" rot="0">
            <a:off x="6651085" y="6337604"/>
            <a:ext cx="11301259" cy="1794075"/>
          </a:xfrm>
          <a:custGeom>
            <a:avLst/>
            <a:gdLst/>
            <a:ahLst/>
            <a:cxnLst/>
            <a:rect r="r" b="b" t="t" l="l"/>
            <a:pathLst>
              <a:path h="1794075" w="11301259">
                <a:moveTo>
                  <a:pt x="0" y="0"/>
                </a:moveTo>
                <a:lnTo>
                  <a:pt x="11301259" y="0"/>
                </a:lnTo>
                <a:lnTo>
                  <a:pt x="11301259" y="1794075"/>
                </a:lnTo>
                <a:lnTo>
                  <a:pt x="0" y="1794075"/>
                </a:lnTo>
                <a:lnTo>
                  <a:pt x="0" y="0"/>
                </a:lnTo>
                <a:close/>
              </a:path>
            </a:pathLst>
          </a:custGeom>
          <a:blipFill>
            <a:blip r:embed="rId4"/>
            <a:stretch>
              <a:fillRect l="0" t="0" r="0" b="0"/>
            </a:stretch>
          </a:blipFill>
        </p:spPr>
      </p:sp>
      <p:sp>
        <p:nvSpPr>
          <p:cNvPr name="TextBox 5" id="5"/>
          <p:cNvSpPr txBox="true"/>
          <p:nvPr/>
        </p:nvSpPr>
        <p:spPr>
          <a:xfrm rot="0">
            <a:off x="846144" y="1516049"/>
            <a:ext cx="13239051" cy="3916680"/>
          </a:xfrm>
          <a:prstGeom prst="rect">
            <a:avLst/>
          </a:prstGeom>
        </p:spPr>
        <p:txBody>
          <a:bodyPr anchor="t" rtlCol="false" tIns="0" lIns="0" bIns="0" rIns="0">
            <a:spAutoFit/>
          </a:bodyPr>
          <a:lstStyle/>
          <a:p>
            <a:pPr algn="just">
              <a:lnSpc>
                <a:spcPts val="7559"/>
              </a:lnSpc>
            </a:pPr>
            <a:r>
              <a:rPr lang="en-US" b="true" sz="6000" spc="294">
                <a:solidFill>
                  <a:srgbClr val="0D3B8A"/>
                </a:solidFill>
                <a:latin typeface="Arial Bold"/>
                <a:ea typeface="Arial Bold"/>
                <a:cs typeface="Arial Bold"/>
                <a:sym typeface="Arial Bold"/>
              </a:rPr>
              <a:t>PHẦN MỀM ỨNG DỤNG </a:t>
            </a:r>
          </a:p>
          <a:p>
            <a:pPr algn="just">
              <a:lnSpc>
                <a:spcPts val="7559"/>
              </a:lnSpc>
            </a:pPr>
            <a:r>
              <a:rPr lang="en-US" b="true" sz="6000" spc="294">
                <a:solidFill>
                  <a:srgbClr val="0D3B8A"/>
                </a:solidFill>
                <a:latin typeface="Arial Bold"/>
                <a:ea typeface="Arial Bold"/>
                <a:cs typeface="Arial Bold"/>
                <a:sym typeface="Arial Bold"/>
              </a:rPr>
              <a:t>GIẢI TRÍ DỰA TRÊN CẢM XÚC:</a:t>
            </a:r>
          </a:p>
          <a:p>
            <a:pPr algn="just">
              <a:lnSpc>
                <a:spcPts val="7559"/>
              </a:lnSpc>
            </a:pPr>
            <a:r>
              <a:rPr lang="en-US" b="true" sz="6000" spc="294">
                <a:solidFill>
                  <a:srgbClr val="0D3B8A"/>
                </a:solidFill>
                <a:latin typeface="Arial Bold"/>
                <a:ea typeface="Arial Bold"/>
                <a:cs typeface="Arial Bold"/>
                <a:sym typeface="Arial Bold"/>
              </a:rPr>
              <a:t>NÂNG CAO TRẢI NGHIỆM VÀ </a:t>
            </a:r>
          </a:p>
          <a:p>
            <a:pPr algn="just">
              <a:lnSpc>
                <a:spcPts val="7559"/>
              </a:lnSpc>
            </a:pPr>
            <a:r>
              <a:rPr lang="en-US" b="true" sz="6000" spc="294">
                <a:solidFill>
                  <a:srgbClr val="0D3B8A"/>
                </a:solidFill>
                <a:latin typeface="Arial Bold"/>
                <a:ea typeface="Arial Bold"/>
                <a:cs typeface="Arial Bold"/>
                <a:sym typeface="Arial Bold"/>
              </a:rPr>
              <a:t>AN TOÀN CHO NGƯỜI LÁI XE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7621327"/>
            <a:ext cx="18288000" cy="3086100"/>
            <a:chOff x="0" y="0"/>
            <a:chExt cx="4816593" cy="812800"/>
          </a:xfrm>
        </p:grpSpPr>
        <p:sp>
          <p:nvSpPr>
            <p:cNvPr name="Freeform 4" id="4"/>
            <p:cNvSpPr/>
            <p:nvPr/>
          </p:nvSpPr>
          <p:spPr>
            <a:xfrm flipH="false" flipV="false" rot="0">
              <a:off x="0" y="0"/>
              <a:ext cx="4816592" cy="812800"/>
            </a:xfrm>
            <a:custGeom>
              <a:avLst/>
              <a:gdLst/>
              <a:ahLst/>
              <a:cxnLst/>
              <a:rect r="r" b="b" t="t" l="l"/>
              <a:pathLst>
                <a:path h="812800" w="4816592">
                  <a:moveTo>
                    <a:pt x="0" y="0"/>
                  </a:moveTo>
                  <a:lnTo>
                    <a:pt x="4816592" y="0"/>
                  </a:lnTo>
                  <a:lnTo>
                    <a:pt x="4816592" y="812800"/>
                  </a:lnTo>
                  <a:lnTo>
                    <a:pt x="0" y="812800"/>
                  </a:lnTo>
                  <a:close/>
                </a:path>
              </a:pathLst>
            </a:custGeom>
            <a:solidFill>
              <a:srgbClr val="FFFFFF"/>
            </a:solidFill>
          </p:spPr>
        </p:sp>
        <p:sp>
          <p:nvSpPr>
            <p:cNvPr name="TextBox 5" id="5"/>
            <p:cNvSpPr txBox="true"/>
            <p:nvPr/>
          </p:nvSpPr>
          <p:spPr>
            <a:xfrm>
              <a:off x="0" y="-95250"/>
              <a:ext cx="4816593" cy="908050"/>
            </a:xfrm>
            <a:prstGeom prst="rect">
              <a:avLst/>
            </a:prstGeom>
          </p:spPr>
          <p:txBody>
            <a:bodyPr anchor="ctr" rtlCol="false" tIns="50800" lIns="50800" bIns="50800" rIns="50800"/>
            <a:lstStyle/>
            <a:p>
              <a:pPr algn="ctr">
                <a:lnSpc>
                  <a:spcPts val="3944"/>
                </a:lnSpc>
              </a:pPr>
            </a:p>
          </p:txBody>
        </p:sp>
      </p:grpSp>
      <p:grpSp>
        <p:nvGrpSpPr>
          <p:cNvPr name="Group 6" id="6"/>
          <p:cNvGrpSpPr/>
          <p:nvPr/>
        </p:nvGrpSpPr>
        <p:grpSpPr>
          <a:xfrm rot="0">
            <a:off x="1333474" y="6032554"/>
            <a:ext cx="6525727" cy="4055035"/>
            <a:chOff x="0" y="0"/>
            <a:chExt cx="1115580" cy="693213"/>
          </a:xfrm>
        </p:grpSpPr>
        <p:sp>
          <p:nvSpPr>
            <p:cNvPr name="Freeform 7" id="7"/>
            <p:cNvSpPr/>
            <p:nvPr/>
          </p:nvSpPr>
          <p:spPr>
            <a:xfrm flipH="false" flipV="false" rot="0">
              <a:off x="0" y="0"/>
              <a:ext cx="1115580" cy="693213"/>
            </a:xfrm>
            <a:custGeom>
              <a:avLst/>
              <a:gdLst/>
              <a:ahLst/>
              <a:cxnLst/>
              <a:rect r="r" b="b" t="t" l="l"/>
              <a:pathLst>
                <a:path h="693213" w="1115580">
                  <a:moveTo>
                    <a:pt x="27286" y="0"/>
                  </a:moveTo>
                  <a:lnTo>
                    <a:pt x="1088294" y="0"/>
                  </a:lnTo>
                  <a:cubicBezTo>
                    <a:pt x="1095531" y="0"/>
                    <a:pt x="1102471" y="2875"/>
                    <a:pt x="1107588" y="7992"/>
                  </a:cubicBezTo>
                  <a:cubicBezTo>
                    <a:pt x="1112705" y="13109"/>
                    <a:pt x="1115580" y="20050"/>
                    <a:pt x="1115580" y="27286"/>
                  </a:cubicBezTo>
                  <a:lnTo>
                    <a:pt x="1115580" y="665926"/>
                  </a:lnTo>
                  <a:cubicBezTo>
                    <a:pt x="1115580" y="680996"/>
                    <a:pt x="1103364" y="693213"/>
                    <a:pt x="1088294" y="693213"/>
                  </a:cubicBezTo>
                  <a:lnTo>
                    <a:pt x="27286" y="693213"/>
                  </a:lnTo>
                  <a:cubicBezTo>
                    <a:pt x="20050" y="693213"/>
                    <a:pt x="13109" y="690338"/>
                    <a:pt x="7992" y="685221"/>
                  </a:cubicBezTo>
                  <a:cubicBezTo>
                    <a:pt x="2875" y="680103"/>
                    <a:pt x="0" y="673163"/>
                    <a:pt x="0" y="665926"/>
                  </a:cubicBezTo>
                  <a:lnTo>
                    <a:pt x="0" y="27286"/>
                  </a:lnTo>
                  <a:cubicBezTo>
                    <a:pt x="0" y="20050"/>
                    <a:pt x="2875" y="13109"/>
                    <a:pt x="7992" y="7992"/>
                  </a:cubicBezTo>
                  <a:cubicBezTo>
                    <a:pt x="13109" y="2875"/>
                    <a:pt x="20050" y="0"/>
                    <a:pt x="27286" y="0"/>
                  </a:cubicBezTo>
                  <a:close/>
                </a:path>
              </a:pathLst>
            </a:custGeom>
            <a:blipFill>
              <a:blip r:embed="rId4"/>
              <a:stretch>
                <a:fillRect l="0" t="-30464" r="0" b="-30464"/>
              </a:stretch>
            </a:blipFill>
          </p:spPr>
        </p:sp>
      </p:grpSp>
      <p:sp>
        <p:nvSpPr>
          <p:cNvPr name="TextBox 8" id="8"/>
          <p:cNvSpPr txBox="true"/>
          <p:nvPr/>
        </p:nvSpPr>
        <p:spPr>
          <a:xfrm rot="0">
            <a:off x="213071" y="2069411"/>
            <a:ext cx="14293831" cy="5136313"/>
          </a:xfrm>
          <a:prstGeom prst="rect">
            <a:avLst/>
          </a:prstGeom>
        </p:spPr>
        <p:txBody>
          <a:bodyPr anchor="t" rtlCol="false" tIns="0" lIns="0" bIns="0" rIns="0">
            <a:spAutoFit/>
          </a:bodyPr>
          <a:lstStyle/>
          <a:p>
            <a:pPr algn="just" marL="637173" indent="-318587" lvl="1">
              <a:lnSpc>
                <a:spcPts val="3748"/>
              </a:lnSpc>
              <a:buFont typeface="Arial"/>
              <a:buChar char="•"/>
            </a:pPr>
            <a:r>
              <a:rPr lang="en-US" b="true" sz="2951" spc="144">
                <a:solidFill>
                  <a:srgbClr val="0D3B8A"/>
                </a:solidFill>
                <a:latin typeface="Asap Bold"/>
                <a:ea typeface="Asap Bold"/>
                <a:cs typeface="Asap Bold"/>
                <a:sym typeface="Asap Bold"/>
              </a:rPr>
              <a:t>Gia tăng nhu cầu về các giải pháp giải trí thông minh và an toàn trong xe hơi.</a:t>
            </a:r>
          </a:p>
          <a:p>
            <a:pPr algn="just" marL="637173" indent="-318587" lvl="1">
              <a:lnSpc>
                <a:spcPts val="3748"/>
              </a:lnSpc>
              <a:buFont typeface="Arial"/>
              <a:buChar char="•"/>
            </a:pPr>
            <a:r>
              <a:rPr lang="en-US" b="true" sz="2951" spc="144">
                <a:solidFill>
                  <a:srgbClr val="0D3B8A"/>
                </a:solidFill>
                <a:latin typeface="Asap Bold"/>
                <a:ea typeface="Asap Bold"/>
                <a:cs typeface="Asap Bold"/>
                <a:sym typeface="Asap Bold"/>
              </a:rPr>
              <a:t>Người lái xe thường đối mặt với stress do di chuyển kéo dài, kẹt xe, hoặc các yếu tố bên ngoài, dẫn đến mệt mỏi, căng thẳng</a:t>
            </a:r>
          </a:p>
          <a:p>
            <a:pPr algn="just" marL="637173" indent="-318587" lvl="1">
              <a:lnSpc>
                <a:spcPts val="3748"/>
              </a:lnSpc>
              <a:buFont typeface="Arial"/>
              <a:buChar char="•"/>
            </a:pPr>
            <a:r>
              <a:rPr lang="en-US" b="true" sz="2951" spc="144">
                <a:solidFill>
                  <a:srgbClr val="0D3B8A"/>
                </a:solidFill>
                <a:latin typeface="Asap Bold"/>
                <a:ea typeface="Asap Bold"/>
                <a:cs typeface="Asap Bold"/>
                <a:sym typeface="Asap Bold"/>
              </a:rPr>
              <a:t>Các hệ thống hiện tại thường chưa điều chỉnh nội dung media một cách thông minh dựa trên trạng thái cảm xúc.</a:t>
            </a:r>
          </a:p>
          <a:p>
            <a:pPr algn="just" marL="637173" indent="-318587" lvl="1">
              <a:lnSpc>
                <a:spcPts val="3748"/>
              </a:lnSpc>
              <a:buFont typeface="Arial"/>
              <a:buChar char="•"/>
            </a:pPr>
            <a:r>
              <a:rPr lang="en-US" b="true" sz="2951" spc="144">
                <a:solidFill>
                  <a:srgbClr val="0D3B8A"/>
                </a:solidFill>
                <a:latin typeface="Asap Bold"/>
                <a:ea typeface="Asap Bold"/>
                <a:cs typeface="Asap Bold"/>
                <a:sym typeface="Asap Bold"/>
              </a:rPr>
              <a:t>Ứng dụng cần tự động hóa, giúp tài xế giảm tương tác với màn hình để tài xế không bị mất tập trung</a:t>
            </a:r>
          </a:p>
          <a:p>
            <a:pPr algn="just">
              <a:lnSpc>
                <a:spcPts val="3748"/>
              </a:lnSpc>
            </a:pPr>
          </a:p>
          <a:p>
            <a:pPr algn="just">
              <a:lnSpc>
                <a:spcPts val="3748"/>
              </a:lnSpc>
            </a:pPr>
          </a:p>
          <a:p>
            <a:pPr algn="just">
              <a:lnSpc>
                <a:spcPts val="3748"/>
              </a:lnSpc>
            </a:pPr>
          </a:p>
        </p:txBody>
      </p:sp>
      <p:grpSp>
        <p:nvGrpSpPr>
          <p:cNvPr name="Group 9" id="9"/>
          <p:cNvGrpSpPr/>
          <p:nvPr/>
        </p:nvGrpSpPr>
        <p:grpSpPr>
          <a:xfrm rot="0">
            <a:off x="9758490" y="6032554"/>
            <a:ext cx="6524779" cy="4055035"/>
            <a:chOff x="0" y="0"/>
            <a:chExt cx="1093560" cy="679628"/>
          </a:xfrm>
        </p:grpSpPr>
        <p:sp>
          <p:nvSpPr>
            <p:cNvPr name="Freeform 10" id="10"/>
            <p:cNvSpPr/>
            <p:nvPr/>
          </p:nvSpPr>
          <p:spPr>
            <a:xfrm flipH="false" flipV="false" rot="0">
              <a:off x="0" y="0"/>
              <a:ext cx="1093560" cy="679628"/>
            </a:xfrm>
            <a:custGeom>
              <a:avLst/>
              <a:gdLst/>
              <a:ahLst/>
              <a:cxnLst/>
              <a:rect r="r" b="b" t="t" l="l"/>
              <a:pathLst>
                <a:path h="679628" w="1093560">
                  <a:moveTo>
                    <a:pt x="27290" y="0"/>
                  </a:moveTo>
                  <a:lnTo>
                    <a:pt x="1066269" y="0"/>
                  </a:lnTo>
                  <a:cubicBezTo>
                    <a:pt x="1081342" y="0"/>
                    <a:pt x="1093560" y="12218"/>
                    <a:pt x="1093560" y="27290"/>
                  </a:cubicBezTo>
                  <a:lnTo>
                    <a:pt x="1093560" y="652338"/>
                  </a:lnTo>
                  <a:cubicBezTo>
                    <a:pt x="1093560" y="667410"/>
                    <a:pt x="1081342" y="679628"/>
                    <a:pt x="1066269" y="679628"/>
                  </a:cubicBezTo>
                  <a:lnTo>
                    <a:pt x="27290" y="679628"/>
                  </a:lnTo>
                  <a:cubicBezTo>
                    <a:pt x="20053" y="679628"/>
                    <a:pt x="13111" y="676753"/>
                    <a:pt x="7993" y="671635"/>
                  </a:cubicBezTo>
                  <a:cubicBezTo>
                    <a:pt x="2875" y="666517"/>
                    <a:pt x="0" y="659576"/>
                    <a:pt x="0" y="652338"/>
                  </a:cubicBezTo>
                  <a:lnTo>
                    <a:pt x="0" y="27290"/>
                  </a:lnTo>
                  <a:cubicBezTo>
                    <a:pt x="0" y="12218"/>
                    <a:pt x="12218" y="0"/>
                    <a:pt x="27290" y="0"/>
                  </a:cubicBezTo>
                  <a:close/>
                </a:path>
              </a:pathLst>
            </a:custGeom>
            <a:blipFill>
              <a:blip r:embed="rId5"/>
              <a:stretch>
                <a:fillRect l="0" t="-3635" r="0" b="-3635"/>
              </a:stretch>
            </a:blipFill>
          </p:spPr>
        </p:sp>
      </p:grpSp>
      <p:sp>
        <p:nvSpPr>
          <p:cNvPr name="TextBox 11" id="11"/>
          <p:cNvSpPr txBox="true"/>
          <p:nvPr/>
        </p:nvSpPr>
        <p:spPr>
          <a:xfrm rot="0">
            <a:off x="1238718" y="1192108"/>
            <a:ext cx="12242538" cy="905877"/>
          </a:xfrm>
          <a:prstGeom prst="rect">
            <a:avLst/>
          </a:prstGeom>
        </p:spPr>
        <p:txBody>
          <a:bodyPr anchor="t" rtlCol="false" tIns="0" lIns="0" bIns="0" rIns="0">
            <a:spAutoFit/>
          </a:bodyPr>
          <a:lstStyle/>
          <a:p>
            <a:pPr algn="l">
              <a:lnSpc>
                <a:spcPts val="7081"/>
              </a:lnSpc>
            </a:pPr>
            <a:r>
              <a:rPr lang="en-US" b="true" sz="6157" spc="301">
                <a:solidFill>
                  <a:srgbClr val="0D3B8A"/>
                </a:solidFill>
                <a:latin typeface="Montserrat Bold"/>
                <a:ea typeface="Montserrat Bold"/>
                <a:cs typeface="Montserrat Bold"/>
                <a:sym typeface="Montserrat Bold"/>
              </a:rPr>
              <a:t>ĐẶT VẤN ĐỀ</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741606"/>
            <a:ext cx="18288000" cy="11814948"/>
            <a:chOff x="0" y="0"/>
            <a:chExt cx="4816593" cy="3111756"/>
          </a:xfrm>
        </p:grpSpPr>
        <p:sp>
          <p:nvSpPr>
            <p:cNvPr name="Freeform 3" id="3"/>
            <p:cNvSpPr/>
            <p:nvPr/>
          </p:nvSpPr>
          <p:spPr>
            <a:xfrm flipH="false" flipV="false" rot="0">
              <a:off x="0" y="0"/>
              <a:ext cx="4816592" cy="3111756"/>
            </a:xfrm>
            <a:custGeom>
              <a:avLst/>
              <a:gdLst/>
              <a:ahLst/>
              <a:cxnLst/>
              <a:rect r="r" b="b" t="t" l="l"/>
              <a:pathLst>
                <a:path h="3111756" w="4816592">
                  <a:moveTo>
                    <a:pt x="0" y="0"/>
                  </a:moveTo>
                  <a:lnTo>
                    <a:pt x="4816592" y="0"/>
                  </a:lnTo>
                  <a:lnTo>
                    <a:pt x="4816592" y="3111756"/>
                  </a:lnTo>
                  <a:lnTo>
                    <a:pt x="0" y="3111756"/>
                  </a:lnTo>
                  <a:close/>
                </a:path>
              </a:pathLst>
            </a:custGeom>
            <a:solidFill>
              <a:srgbClr val="0D3B8A"/>
            </a:solidFill>
          </p:spPr>
        </p:sp>
        <p:sp>
          <p:nvSpPr>
            <p:cNvPr name="TextBox 4" id="4"/>
            <p:cNvSpPr txBox="true"/>
            <p:nvPr/>
          </p:nvSpPr>
          <p:spPr>
            <a:xfrm>
              <a:off x="0" y="-38100"/>
              <a:ext cx="4816593" cy="314985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1005279" y="1863670"/>
            <a:ext cx="6418611" cy="3819028"/>
            <a:chOff x="0" y="0"/>
            <a:chExt cx="1223280" cy="727843"/>
          </a:xfrm>
        </p:grpSpPr>
        <p:sp>
          <p:nvSpPr>
            <p:cNvPr name="Freeform 6" id="6"/>
            <p:cNvSpPr/>
            <p:nvPr/>
          </p:nvSpPr>
          <p:spPr>
            <a:xfrm flipH="false" flipV="false" rot="0">
              <a:off x="0" y="0"/>
              <a:ext cx="1223280" cy="727843"/>
            </a:xfrm>
            <a:custGeom>
              <a:avLst/>
              <a:gdLst/>
              <a:ahLst/>
              <a:cxnLst/>
              <a:rect r="r" b="b" t="t" l="l"/>
              <a:pathLst>
                <a:path h="727843" w="1223280">
                  <a:moveTo>
                    <a:pt x="27742" y="0"/>
                  </a:moveTo>
                  <a:lnTo>
                    <a:pt x="1195538" y="0"/>
                  </a:lnTo>
                  <a:cubicBezTo>
                    <a:pt x="1202896" y="0"/>
                    <a:pt x="1209952" y="2923"/>
                    <a:pt x="1215154" y="8125"/>
                  </a:cubicBezTo>
                  <a:cubicBezTo>
                    <a:pt x="1220357" y="13328"/>
                    <a:pt x="1223280" y="20384"/>
                    <a:pt x="1223280" y="27742"/>
                  </a:cubicBezTo>
                  <a:lnTo>
                    <a:pt x="1223280" y="700101"/>
                  </a:lnTo>
                  <a:cubicBezTo>
                    <a:pt x="1223280" y="707459"/>
                    <a:pt x="1220357" y="714515"/>
                    <a:pt x="1215154" y="719717"/>
                  </a:cubicBezTo>
                  <a:cubicBezTo>
                    <a:pt x="1209952" y="724920"/>
                    <a:pt x="1202896" y="727843"/>
                    <a:pt x="1195538" y="727843"/>
                  </a:cubicBezTo>
                  <a:lnTo>
                    <a:pt x="27742" y="727843"/>
                  </a:lnTo>
                  <a:cubicBezTo>
                    <a:pt x="20384" y="727843"/>
                    <a:pt x="13328" y="724920"/>
                    <a:pt x="8125" y="719717"/>
                  </a:cubicBezTo>
                  <a:cubicBezTo>
                    <a:pt x="2923" y="714515"/>
                    <a:pt x="0" y="707459"/>
                    <a:pt x="0" y="700101"/>
                  </a:cubicBezTo>
                  <a:lnTo>
                    <a:pt x="0" y="27742"/>
                  </a:lnTo>
                  <a:cubicBezTo>
                    <a:pt x="0" y="20384"/>
                    <a:pt x="2923" y="13328"/>
                    <a:pt x="8125" y="8125"/>
                  </a:cubicBezTo>
                  <a:cubicBezTo>
                    <a:pt x="13328" y="2923"/>
                    <a:pt x="20384" y="0"/>
                    <a:pt x="27742" y="0"/>
                  </a:cubicBezTo>
                  <a:close/>
                </a:path>
              </a:pathLst>
            </a:custGeom>
            <a:blipFill>
              <a:blip r:embed="rId3"/>
              <a:stretch>
                <a:fillRect l="0" t="-5567" r="0" b="-5567"/>
              </a:stretch>
            </a:blipFill>
          </p:spPr>
        </p:sp>
      </p:grpSp>
      <p:grpSp>
        <p:nvGrpSpPr>
          <p:cNvPr name="Group 7" id="7"/>
          <p:cNvGrpSpPr/>
          <p:nvPr/>
        </p:nvGrpSpPr>
        <p:grpSpPr>
          <a:xfrm rot="0">
            <a:off x="11080230" y="6120848"/>
            <a:ext cx="6343660" cy="3874193"/>
            <a:chOff x="0" y="0"/>
            <a:chExt cx="982799" cy="600214"/>
          </a:xfrm>
        </p:grpSpPr>
        <p:sp>
          <p:nvSpPr>
            <p:cNvPr name="Freeform 8" id="8"/>
            <p:cNvSpPr/>
            <p:nvPr/>
          </p:nvSpPr>
          <p:spPr>
            <a:xfrm flipH="false" flipV="false" rot="0">
              <a:off x="0" y="0"/>
              <a:ext cx="982799" cy="600214"/>
            </a:xfrm>
            <a:custGeom>
              <a:avLst/>
              <a:gdLst/>
              <a:ahLst/>
              <a:cxnLst/>
              <a:rect r="r" b="b" t="t" l="l"/>
              <a:pathLst>
                <a:path h="600214" w="982799">
                  <a:moveTo>
                    <a:pt x="28070" y="0"/>
                  </a:moveTo>
                  <a:lnTo>
                    <a:pt x="954729" y="0"/>
                  </a:lnTo>
                  <a:cubicBezTo>
                    <a:pt x="962174" y="0"/>
                    <a:pt x="969313" y="2957"/>
                    <a:pt x="974578" y="8221"/>
                  </a:cubicBezTo>
                  <a:cubicBezTo>
                    <a:pt x="979842" y="13485"/>
                    <a:pt x="982799" y="20625"/>
                    <a:pt x="982799" y="28070"/>
                  </a:cubicBezTo>
                  <a:lnTo>
                    <a:pt x="982799" y="572144"/>
                  </a:lnTo>
                  <a:cubicBezTo>
                    <a:pt x="982799" y="587647"/>
                    <a:pt x="970232" y="600214"/>
                    <a:pt x="954729" y="600214"/>
                  </a:cubicBezTo>
                  <a:lnTo>
                    <a:pt x="28070" y="600214"/>
                  </a:lnTo>
                  <a:cubicBezTo>
                    <a:pt x="12567" y="600214"/>
                    <a:pt x="0" y="587647"/>
                    <a:pt x="0" y="572144"/>
                  </a:cubicBezTo>
                  <a:lnTo>
                    <a:pt x="0" y="28070"/>
                  </a:lnTo>
                  <a:cubicBezTo>
                    <a:pt x="0" y="12567"/>
                    <a:pt x="12567" y="0"/>
                    <a:pt x="28070" y="0"/>
                  </a:cubicBezTo>
                  <a:close/>
                </a:path>
              </a:pathLst>
            </a:custGeom>
            <a:blipFill>
              <a:blip r:embed="rId4"/>
              <a:stretch>
                <a:fillRect l="-1320" t="0" r="-1320" b="0"/>
              </a:stretch>
            </a:blipFill>
          </p:spPr>
        </p:sp>
      </p:grpSp>
      <p:sp>
        <p:nvSpPr>
          <p:cNvPr name="TextBox 9" id="9"/>
          <p:cNvSpPr txBox="true"/>
          <p:nvPr/>
        </p:nvSpPr>
        <p:spPr>
          <a:xfrm rot="0">
            <a:off x="1653533" y="657459"/>
            <a:ext cx="15605767" cy="766178"/>
          </a:xfrm>
          <a:prstGeom prst="rect">
            <a:avLst/>
          </a:prstGeom>
        </p:spPr>
        <p:txBody>
          <a:bodyPr anchor="t" rtlCol="false" tIns="0" lIns="0" bIns="0" rIns="0">
            <a:spAutoFit/>
          </a:bodyPr>
          <a:lstStyle/>
          <a:p>
            <a:pPr algn="ctr">
              <a:lnSpc>
                <a:spcPts val="5931"/>
              </a:lnSpc>
            </a:pPr>
            <a:r>
              <a:rPr lang="en-US" b="true" sz="5157" spc="252">
                <a:solidFill>
                  <a:srgbClr val="0D3B8A"/>
                </a:solidFill>
                <a:latin typeface="Montserrat Ultra-Bold"/>
                <a:ea typeface="Montserrat Ultra-Bold"/>
                <a:cs typeface="Montserrat Ultra-Bold"/>
                <a:sym typeface="Montserrat Ultra-Bold"/>
              </a:rPr>
              <a:t>GIẢI PHÁP: ỨNG DỤNG VIBERIDE</a:t>
            </a:r>
          </a:p>
        </p:txBody>
      </p:sp>
      <p:sp>
        <p:nvSpPr>
          <p:cNvPr name="TextBox 10" id="10"/>
          <p:cNvSpPr txBox="true"/>
          <p:nvPr/>
        </p:nvSpPr>
        <p:spPr>
          <a:xfrm rot="0">
            <a:off x="248736" y="2022316"/>
            <a:ext cx="9849943" cy="8956815"/>
          </a:xfrm>
          <a:prstGeom prst="rect">
            <a:avLst/>
          </a:prstGeom>
        </p:spPr>
        <p:txBody>
          <a:bodyPr anchor="t" rtlCol="false" tIns="0" lIns="0" bIns="0" rIns="0">
            <a:spAutoFit/>
          </a:bodyPr>
          <a:lstStyle/>
          <a:p>
            <a:pPr algn="l" marL="762126" indent="-381063" lvl="1">
              <a:lnSpc>
                <a:spcPts val="6459"/>
              </a:lnSpc>
              <a:buFont typeface="Arial"/>
              <a:buChar char="•"/>
            </a:pPr>
            <a:r>
              <a:rPr lang="en-US" sz="3529">
                <a:solidFill>
                  <a:srgbClr val="FFFFFF"/>
                </a:solidFill>
                <a:latin typeface="Asap"/>
                <a:ea typeface="Asap"/>
                <a:cs typeface="Asap"/>
                <a:sym typeface="Asap"/>
              </a:rPr>
              <a:t>Phần mềm giải trí dựa trên cảm xúc, phân tích trạng thái cảm xúc của người lái qua dữ liệu lưới khuôn mặt (FaceMesh).</a:t>
            </a:r>
          </a:p>
          <a:p>
            <a:pPr algn="l" marL="762126" indent="-381063" lvl="1">
              <a:lnSpc>
                <a:spcPts val="6459"/>
              </a:lnSpc>
              <a:buFont typeface="Arial"/>
              <a:buChar char="•"/>
            </a:pPr>
            <a:r>
              <a:rPr lang="en-US" sz="3529">
                <a:solidFill>
                  <a:srgbClr val="FFFFFF"/>
                </a:solidFill>
                <a:latin typeface="Asap"/>
                <a:ea typeface="Asap"/>
                <a:cs typeface="Asap"/>
                <a:sym typeface="Asap"/>
              </a:rPr>
              <a:t>Gợi ý nội dung media (nhạc/video) phù hợp với cảm xúc.</a:t>
            </a:r>
          </a:p>
          <a:p>
            <a:pPr algn="l" marL="762126" indent="-381063" lvl="1">
              <a:lnSpc>
                <a:spcPts val="6459"/>
              </a:lnSpc>
              <a:buFont typeface="Arial"/>
              <a:buChar char="•"/>
            </a:pPr>
            <a:r>
              <a:rPr lang="en-US" sz="3529">
                <a:solidFill>
                  <a:srgbClr val="FFFFFF"/>
                </a:solidFill>
                <a:latin typeface="Asap"/>
                <a:ea typeface="Asap"/>
                <a:cs typeface="Asap"/>
                <a:sym typeface="Asap"/>
              </a:rPr>
              <a:t>Phát hiện trạng thái buồn ngủ, đưa ra cảnh báo kịp thời, nâng cao tỉnh táo và an toàn</a:t>
            </a:r>
          </a:p>
          <a:p>
            <a:pPr algn="l" marL="762126" indent="-381063" lvl="1">
              <a:lnSpc>
                <a:spcPts val="6459"/>
              </a:lnSpc>
              <a:buFont typeface="Arial"/>
              <a:buChar char="•"/>
            </a:pPr>
            <a:r>
              <a:rPr lang="en-US" sz="3529">
                <a:solidFill>
                  <a:srgbClr val="FFFFFF"/>
                </a:solidFill>
                <a:latin typeface="Asap"/>
                <a:ea typeface="Asap"/>
                <a:cs typeface="Asap"/>
                <a:sym typeface="Asap"/>
              </a:rPr>
              <a:t>Người dùng không cần thao tác nhiều trên màn hình, đảm bảo an toàn khi lái xe</a:t>
            </a:r>
          </a:p>
          <a:p>
            <a:pPr algn="l">
              <a:lnSpc>
                <a:spcPts val="6459"/>
              </a:lnSpc>
            </a:pPr>
          </a:p>
          <a:p>
            <a:pPr algn="l">
              <a:lnSpc>
                <a:spcPts val="645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439907" y="3618173"/>
            <a:ext cx="14651212" cy="1088517"/>
          </a:xfrm>
          <a:prstGeom prst="rect">
            <a:avLst/>
          </a:prstGeom>
        </p:spPr>
        <p:txBody>
          <a:bodyPr anchor="t" rtlCol="false" tIns="0" lIns="0" bIns="0" rIns="0">
            <a:spAutoFit/>
          </a:bodyPr>
          <a:lstStyle/>
          <a:p>
            <a:pPr algn="l">
              <a:lnSpc>
                <a:spcPts val="4283"/>
              </a:lnSpc>
            </a:pPr>
            <a:r>
              <a:rPr lang="en-US" sz="3399">
                <a:solidFill>
                  <a:srgbClr val="0D3B8A"/>
                </a:solidFill>
                <a:latin typeface="Asap"/>
                <a:ea typeface="Asap"/>
                <a:cs typeface="Asap"/>
                <a:sym typeface="Asap"/>
              </a:rPr>
              <a:t>Xâ</a:t>
            </a:r>
            <a:r>
              <a:rPr lang="en-US" sz="3399">
                <a:solidFill>
                  <a:srgbClr val="0D3B8A"/>
                </a:solidFill>
                <a:latin typeface="Asap"/>
                <a:ea typeface="Asap"/>
                <a:cs typeface="Asap"/>
                <a:sym typeface="Asap"/>
              </a:rPr>
              <a:t>y dựng ứng dụng Android nhận diện cảm xúc qua FaceMesh (dữ liệu lưới khuôn mặt), gợi ý bài hát phù hợp, phát hiện và cảnh báo buồn ngủ</a:t>
            </a:r>
          </a:p>
        </p:txBody>
      </p:sp>
      <p:grpSp>
        <p:nvGrpSpPr>
          <p:cNvPr name="Group 4" id="4"/>
          <p:cNvGrpSpPr/>
          <p:nvPr/>
        </p:nvGrpSpPr>
        <p:grpSpPr>
          <a:xfrm rot="0">
            <a:off x="405435" y="3783544"/>
            <a:ext cx="771999" cy="771999"/>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D3B8A"/>
            </a:solidFill>
          </p:spPr>
        </p:sp>
      </p:grpSp>
      <p:sp>
        <p:nvSpPr>
          <p:cNvPr name="TextBox 6" id="6"/>
          <p:cNvSpPr txBox="true"/>
          <p:nvPr/>
        </p:nvSpPr>
        <p:spPr>
          <a:xfrm rot="0">
            <a:off x="518829" y="3763588"/>
            <a:ext cx="545211" cy="692912"/>
          </a:xfrm>
          <a:prstGeom prst="rect">
            <a:avLst/>
          </a:prstGeom>
        </p:spPr>
        <p:txBody>
          <a:bodyPr anchor="t" rtlCol="false" tIns="0" lIns="0" bIns="0" rIns="0">
            <a:spAutoFit/>
          </a:bodyPr>
          <a:lstStyle/>
          <a:p>
            <a:pPr algn="ctr">
              <a:lnSpc>
                <a:spcPts val="5808"/>
              </a:lnSpc>
            </a:pPr>
            <a:r>
              <a:rPr lang="en-US" b="true" sz="3699" spc="181">
                <a:solidFill>
                  <a:srgbClr val="FFFFFF"/>
                </a:solidFill>
                <a:latin typeface="Montserrat Bold"/>
                <a:ea typeface="Montserrat Bold"/>
                <a:cs typeface="Montserrat Bold"/>
                <a:sym typeface="Montserrat Bold"/>
              </a:rPr>
              <a:t>1</a:t>
            </a:r>
          </a:p>
        </p:txBody>
      </p:sp>
      <p:sp>
        <p:nvSpPr>
          <p:cNvPr name="TextBox 7" id="7"/>
          <p:cNvSpPr txBox="true"/>
          <p:nvPr/>
        </p:nvSpPr>
        <p:spPr>
          <a:xfrm rot="0">
            <a:off x="1439907" y="5190748"/>
            <a:ext cx="13496177" cy="545592"/>
          </a:xfrm>
          <a:prstGeom prst="rect">
            <a:avLst/>
          </a:prstGeom>
        </p:spPr>
        <p:txBody>
          <a:bodyPr anchor="t" rtlCol="false" tIns="0" lIns="0" bIns="0" rIns="0">
            <a:spAutoFit/>
          </a:bodyPr>
          <a:lstStyle/>
          <a:p>
            <a:pPr algn="l" marL="0" indent="0" lvl="1">
              <a:lnSpc>
                <a:spcPts val="4283"/>
              </a:lnSpc>
            </a:pPr>
            <a:r>
              <a:rPr lang="en-US" sz="3399">
                <a:solidFill>
                  <a:srgbClr val="0D3B8A"/>
                </a:solidFill>
                <a:latin typeface="Asap"/>
                <a:ea typeface="Asap"/>
                <a:cs typeface="Asap"/>
                <a:sym typeface="Asap"/>
              </a:rPr>
              <a:t>Kiểm thử</a:t>
            </a:r>
            <a:r>
              <a:rPr lang="en-US" sz="3399">
                <a:solidFill>
                  <a:srgbClr val="0D3B8A"/>
                </a:solidFill>
                <a:latin typeface="Asap"/>
                <a:ea typeface="Asap"/>
                <a:cs typeface="Asap"/>
                <a:sym typeface="Asap"/>
              </a:rPr>
              <a:t> và đánh giá hiệu quả ứng dụng trong môi trường mô phỏng</a:t>
            </a:r>
          </a:p>
        </p:txBody>
      </p:sp>
      <p:grpSp>
        <p:nvGrpSpPr>
          <p:cNvPr name="Group 8" id="8"/>
          <p:cNvGrpSpPr/>
          <p:nvPr/>
        </p:nvGrpSpPr>
        <p:grpSpPr>
          <a:xfrm rot="0">
            <a:off x="405435" y="5063384"/>
            <a:ext cx="771999" cy="771999"/>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D3B8A"/>
            </a:solidFill>
          </p:spPr>
        </p:sp>
      </p:grpSp>
      <p:sp>
        <p:nvSpPr>
          <p:cNvPr name="TextBox 10" id="10"/>
          <p:cNvSpPr txBox="true"/>
          <p:nvPr/>
        </p:nvSpPr>
        <p:spPr>
          <a:xfrm rot="0">
            <a:off x="518829" y="5043428"/>
            <a:ext cx="545211" cy="692912"/>
          </a:xfrm>
          <a:prstGeom prst="rect">
            <a:avLst/>
          </a:prstGeom>
        </p:spPr>
        <p:txBody>
          <a:bodyPr anchor="t" rtlCol="false" tIns="0" lIns="0" bIns="0" rIns="0">
            <a:spAutoFit/>
          </a:bodyPr>
          <a:lstStyle/>
          <a:p>
            <a:pPr algn="ctr" marL="0" indent="0" lvl="1">
              <a:lnSpc>
                <a:spcPts val="5808"/>
              </a:lnSpc>
              <a:spcBef>
                <a:spcPct val="0"/>
              </a:spcBef>
            </a:pPr>
            <a:r>
              <a:rPr lang="en-US" b="true" sz="3699" spc="181" u="none">
                <a:solidFill>
                  <a:srgbClr val="FFFFFF"/>
                </a:solidFill>
                <a:latin typeface="Montserrat Bold"/>
                <a:ea typeface="Montserrat Bold"/>
                <a:cs typeface="Montserrat Bold"/>
                <a:sym typeface="Montserrat Bold"/>
              </a:rPr>
              <a:t>2</a:t>
            </a:r>
          </a:p>
        </p:txBody>
      </p:sp>
      <p:sp>
        <p:nvSpPr>
          <p:cNvPr name="TextBox 11" id="11"/>
          <p:cNvSpPr txBox="true"/>
          <p:nvPr/>
        </p:nvSpPr>
        <p:spPr>
          <a:xfrm rot="0">
            <a:off x="1439907" y="6314650"/>
            <a:ext cx="15819393" cy="1088517"/>
          </a:xfrm>
          <a:prstGeom prst="rect">
            <a:avLst/>
          </a:prstGeom>
        </p:spPr>
        <p:txBody>
          <a:bodyPr anchor="t" rtlCol="false" tIns="0" lIns="0" bIns="0" rIns="0">
            <a:spAutoFit/>
          </a:bodyPr>
          <a:lstStyle/>
          <a:p>
            <a:pPr algn="l" marL="0" indent="0" lvl="1">
              <a:lnSpc>
                <a:spcPts val="4283"/>
              </a:lnSpc>
            </a:pPr>
            <a:r>
              <a:rPr lang="en-US" sz="3399">
                <a:solidFill>
                  <a:srgbClr val="0D3B8A"/>
                </a:solidFill>
                <a:latin typeface="Asap"/>
                <a:ea typeface="Asap"/>
                <a:cs typeface="Asap"/>
                <a:sym typeface="Asap"/>
              </a:rPr>
              <a:t>Tạo</a:t>
            </a:r>
            <a:r>
              <a:rPr lang="en-US" sz="3399">
                <a:solidFill>
                  <a:srgbClr val="0D3B8A"/>
                </a:solidFill>
                <a:latin typeface="Asap"/>
                <a:ea typeface="Asap"/>
                <a:cs typeface="Asap"/>
                <a:sym typeface="Asap"/>
              </a:rPr>
              <a:t> tiền đề cho việc tích hợp trên các hệ thống xe hơi sử dụng Android Automotive trong tương lai.</a:t>
            </a:r>
          </a:p>
        </p:txBody>
      </p:sp>
      <p:grpSp>
        <p:nvGrpSpPr>
          <p:cNvPr name="Group 12" id="12"/>
          <p:cNvGrpSpPr/>
          <p:nvPr/>
        </p:nvGrpSpPr>
        <p:grpSpPr>
          <a:xfrm rot="0">
            <a:off x="405435" y="6343225"/>
            <a:ext cx="771999" cy="771999"/>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D3B8A"/>
            </a:solidFill>
          </p:spPr>
        </p:sp>
      </p:grpSp>
      <p:sp>
        <p:nvSpPr>
          <p:cNvPr name="TextBox 14" id="14"/>
          <p:cNvSpPr txBox="true"/>
          <p:nvPr/>
        </p:nvSpPr>
        <p:spPr>
          <a:xfrm rot="0">
            <a:off x="518829" y="6323269"/>
            <a:ext cx="545211" cy="692912"/>
          </a:xfrm>
          <a:prstGeom prst="rect">
            <a:avLst/>
          </a:prstGeom>
        </p:spPr>
        <p:txBody>
          <a:bodyPr anchor="t" rtlCol="false" tIns="0" lIns="0" bIns="0" rIns="0">
            <a:spAutoFit/>
          </a:bodyPr>
          <a:lstStyle/>
          <a:p>
            <a:pPr algn="ctr" marL="0" indent="0" lvl="1">
              <a:lnSpc>
                <a:spcPts val="5808"/>
              </a:lnSpc>
              <a:spcBef>
                <a:spcPct val="0"/>
              </a:spcBef>
            </a:pPr>
            <a:r>
              <a:rPr lang="en-US" b="true" sz="3699" spc="181" u="none">
                <a:solidFill>
                  <a:srgbClr val="FFFFFF"/>
                </a:solidFill>
                <a:latin typeface="Montserrat Bold"/>
                <a:ea typeface="Montserrat Bold"/>
                <a:cs typeface="Montserrat Bold"/>
                <a:sym typeface="Montserrat Bold"/>
              </a:rPr>
              <a:t>3</a:t>
            </a:r>
          </a:p>
        </p:txBody>
      </p:sp>
      <p:sp>
        <p:nvSpPr>
          <p:cNvPr name="TextBox 15" id="15"/>
          <p:cNvSpPr txBox="true"/>
          <p:nvPr/>
        </p:nvSpPr>
        <p:spPr>
          <a:xfrm rot="0">
            <a:off x="528630" y="1707446"/>
            <a:ext cx="11105367" cy="762000"/>
          </a:xfrm>
          <a:prstGeom prst="rect">
            <a:avLst/>
          </a:prstGeom>
        </p:spPr>
        <p:txBody>
          <a:bodyPr anchor="t" rtlCol="false" tIns="0" lIns="0" bIns="0" rIns="0">
            <a:spAutoFit/>
          </a:bodyPr>
          <a:lstStyle/>
          <a:p>
            <a:pPr algn="l" marL="0" indent="0" lvl="0">
              <a:lnSpc>
                <a:spcPts val="6062"/>
              </a:lnSpc>
              <a:spcBef>
                <a:spcPct val="0"/>
              </a:spcBef>
            </a:pPr>
            <a:r>
              <a:rPr lang="en-US" b="true" sz="5052" spc="247">
                <a:solidFill>
                  <a:srgbClr val="0D3B8A"/>
                </a:solidFill>
                <a:latin typeface="Montserrat Bold"/>
                <a:ea typeface="Montserrat Bold"/>
                <a:cs typeface="Montserrat Bold"/>
                <a:sym typeface="Montserrat Bold"/>
              </a:rPr>
              <a:t>MỤC TIÊU CỦA KHÓA LUẬN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142064" y="3331760"/>
            <a:ext cx="920640" cy="928838"/>
            <a:chOff x="0" y="0"/>
            <a:chExt cx="805626" cy="812800"/>
          </a:xfrm>
        </p:grpSpPr>
        <p:sp>
          <p:nvSpPr>
            <p:cNvPr name="Freeform 4" id="4"/>
            <p:cNvSpPr/>
            <p:nvPr/>
          </p:nvSpPr>
          <p:spPr>
            <a:xfrm flipH="false" flipV="false" rot="0">
              <a:off x="0" y="0"/>
              <a:ext cx="805626" cy="812800"/>
            </a:xfrm>
            <a:custGeom>
              <a:avLst/>
              <a:gdLst/>
              <a:ahLst/>
              <a:cxnLst/>
              <a:rect r="r" b="b" t="t" l="l"/>
              <a:pathLst>
                <a:path h="812800" w="805626">
                  <a:moveTo>
                    <a:pt x="402813" y="0"/>
                  </a:moveTo>
                  <a:cubicBezTo>
                    <a:pt x="180346" y="0"/>
                    <a:pt x="0" y="181951"/>
                    <a:pt x="0" y="406400"/>
                  </a:cubicBezTo>
                  <a:cubicBezTo>
                    <a:pt x="0" y="630849"/>
                    <a:pt x="180346" y="812800"/>
                    <a:pt x="402813" y="812800"/>
                  </a:cubicBezTo>
                  <a:cubicBezTo>
                    <a:pt x="625281" y="812800"/>
                    <a:pt x="805626" y="630849"/>
                    <a:pt x="805626" y="406400"/>
                  </a:cubicBezTo>
                  <a:cubicBezTo>
                    <a:pt x="805626" y="181951"/>
                    <a:pt x="625281" y="0"/>
                    <a:pt x="402813" y="0"/>
                  </a:cubicBezTo>
                  <a:close/>
                </a:path>
              </a:pathLst>
            </a:custGeom>
            <a:solidFill>
              <a:srgbClr val="88DEF1"/>
            </a:solidFill>
          </p:spPr>
        </p:sp>
        <p:sp>
          <p:nvSpPr>
            <p:cNvPr name="TextBox 5" id="5"/>
            <p:cNvSpPr txBox="true"/>
            <p:nvPr/>
          </p:nvSpPr>
          <p:spPr>
            <a:xfrm>
              <a:off x="75527" y="19050"/>
              <a:ext cx="654571" cy="717550"/>
            </a:xfrm>
            <a:prstGeom prst="rect">
              <a:avLst/>
            </a:prstGeom>
          </p:spPr>
          <p:txBody>
            <a:bodyPr anchor="ctr" rtlCol="false" tIns="50800" lIns="50800" bIns="50800" rIns="50800"/>
            <a:lstStyle/>
            <a:p>
              <a:pPr algn="ctr">
                <a:lnSpc>
                  <a:spcPts val="3219"/>
                </a:lnSpc>
              </a:pPr>
              <a:r>
                <a:rPr lang="en-US" b="true" sz="2299" spc="112">
                  <a:solidFill>
                    <a:srgbClr val="0D3B8A"/>
                  </a:solidFill>
                  <a:latin typeface="Asap Bold"/>
                  <a:ea typeface="Asap Bold"/>
                  <a:cs typeface="Asap Bold"/>
                  <a:sym typeface="Asap Bold"/>
                </a:rPr>
                <a:t>1</a:t>
              </a:r>
            </a:p>
          </p:txBody>
        </p:sp>
      </p:grpSp>
      <p:sp>
        <p:nvSpPr>
          <p:cNvPr name="TextBox 6" id="6"/>
          <p:cNvSpPr txBox="true"/>
          <p:nvPr/>
        </p:nvSpPr>
        <p:spPr>
          <a:xfrm rot="0">
            <a:off x="4000494" y="992083"/>
            <a:ext cx="10287012" cy="1501584"/>
          </a:xfrm>
          <a:prstGeom prst="rect">
            <a:avLst/>
          </a:prstGeom>
        </p:spPr>
        <p:txBody>
          <a:bodyPr anchor="t" rtlCol="false" tIns="0" lIns="0" bIns="0" rIns="0">
            <a:spAutoFit/>
          </a:bodyPr>
          <a:lstStyle/>
          <a:p>
            <a:pPr algn="ctr">
              <a:lnSpc>
                <a:spcPts val="12260"/>
              </a:lnSpc>
              <a:spcBef>
                <a:spcPct val="0"/>
              </a:spcBef>
            </a:pPr>
            <a:r>
              <a:rPr lang="en-US" b="true" sz="8757" spc="429">
                <a:solidFill>
                  <a:srgbClr val="0D3B8A"/>
                </a:solidFill>
                <a:latin typeface="Montserrat Bold"/>
                <a:ea typeface="Montserrat Bold"/>
                <a:cs typeface="Montserrat Bold"/>
                <a:sym typeface="Montserrat Bold"/>
              </a:rPr>
              <a:t>NỘI DUNG</a:t>
            </a:r>
          </a:p>
        </p:txBody>
      </p:sp>
      <p:grpSp>
        <p:nvGrpSpPr>
          <p:cNvPr name="Group 7" id="7"/>
          <p:cNvGrpSpPr/>
          <p:nvPr/>
        </p:nvGrpSpPr>
        <p:grpSpPr>
          <a:xfrm rot="0">
            <a:off x="4142064" y="4800937"/>
            <a:ext cx="920640" cy="928838"/>
            <a:chOff x="0" y="0"/>
            <a:chExt cx="805626" cy="812800"/>
          </a:xfrm>
        </p:grpSpPr>
        <p:sp>
          <p:nvSpPr>
            <p:cNvPr name="Freeform 8" id="8"/>
            <p:cNvSpPr/>
            <p:nvPr/>
          </p:nvSpPr>
          <p:spPr>
            <a:xfrm flipH="false" flipV="false" rot="0">
              <a:off x="0" y="0"/>
              <a:ext cx="805626" cy="812800"/>
            </a:xfrm>
            <a:custGeom>
              <a:avLst/>
              <a:gdLst/>
              <a:ahLst/>
              <a:cxnLst/>
              <a:rect r="r" b="b" t="t" l="l"/>
              <a:pathLst>
                <a:path h="812800" w="805626">
                  <a:moveTo>
                    <a:pt x="402813" y="0"/>
                  </a:moveTo>
                  <a:cubicBezTo>
                    <a:pt x="180346" y="0"/>
                    <a:pt x="0" y="181951"/>
                    <a:pt x="0" y="406400"/>
                  </a:cubicBezTo>
                  <a:cubicBezTo>
                    <a:pt x="0" y="630849"/>
                    <a:pt x="180346" y="812800"/>
                    <a:pt x="402813" y="812800"/>
                  </a:cubicBezTo>
                  <a:cubicBezTo>
                    <a:pt x="625281" y="812800"/>
                    <a:pt x="805626" y="630849"/>
                    <a:pt x="805626" y="406400"/>
                  </a:cubicBezTo>
                  <a:cubicBezTo>
                    <a:pt x="805626" y="181951"/>
                    <a:pt x="625281" y="0"/>
                    <a:pt x="402813" y="0"/>
                  </a:cubicBezTo>
                  <a:close/>
                </a:path>
              </a:pathLst>
            </a:custGeom>
            <a:solidFill>
              <a:srgbClr val="88DEF1"/>
            </a:solidFill>
          </p:spPr>
        </p:sp>
        <p:sp>
          <p:nvSpPr>
            <p:cNvPr name="TextBox 9" id="9"/>
            <p:cNvSpPr txBox="true"/>
            <p:nvPr/>
          </p:nvSpPr>
          <p:spPr>
            <a:xfrm>
              <a:off x="75527" y="19050"/>
              <a:ext cx="654571" cy="717550"/>
            </a:xfrm>
            <a:prstGeom prst="rect">
              <a:avLst/>
            </a:prstGeom>
          </p:spPr>
          <p:txBody>
            <a:bodyPr anchor="ctr" rtlCol="false" tIns="50800" lIns="50800" bIns="50800" rIns="50800"/>
            <a:lstStyle/>
            <a:p>
              <a:pPr algn="ctr">
                <a:lnSpc>
                  <a:spcPts val="3219"/>
                </a:lnSpc>
              </a:pPr>
              <a:r>
                <a:rPr lang="en-US" b="true" sz="2299" spc="112">
                  <a:solidFill>
                    <a:srgbClr val="0D3B8A"/>
                  </a:solidFill>
                  <a:latin typeface="Asap Bold"/>
                  <a:ea typeface="Asap Bold"/>
                  <a:cs typeface="Asap Bold"/>
                  <a:sym typeface="Asap Bold"/>
                </a:rPr>
                <a:t>2</a:t>
              </a:r>
            </a:p>
          </p:txBody>
        </p:sp>
      </p:grpSp>
      <p:sp>
        <p:nvSpPr>
          <p:cNvPr name="TextBox 10" id="10"/>
          <p:cNvSpPr txBox="true"/>
          <p:nvPr/>
        </p:nvSpPr>
        <p:spPr>
          <a:xfrm rot="0">
            <a:off x="5263005" y="3487949"/>
            <a:ext cx="7876548" cy="540261"/>
          </a:xfrm>
          <a:prstGeom prst="rect">
            <a:avLst/>
          </a:prstGeom>
        </p:spPr>
        <p:txBody>
          <a:bodyPr anchor="t" rtlCol="false" tIns="0" lIns="0" bIns="0" rIns="0">
            <a:spAutoFit/>
          </a:bodyPr>
          <a:lstStyle/>
          <a:p>
            <a:pPr algn="l">
              <a:lnSpc>
                <a:spcPts val="4346"/>
              </a:lnSpc>
              <a:spcBef>
                <a:spcPct val="0"/>
              </a:spcBef>
            </a:pPr>
            <a:r>
              <a:rPr lang="en-US" b="true" sz="3104" spc="152">
                <a:solidFill>
                  <a:srgbClr val="0D3B8A"/>
                </a:solidFill>
                <a:latin typeface="Asap Bold"/>
                <a:ea typeface="Asap Bold"/>
                <a:cs typeface="Asap Bold"/>
                <a:sym typeface="Asap Bold"/>
              </a:rPr>
              <a:t>ĐẶC TẢ YÊU CẦU</a:t>
            </a:r>
          </a:p>
        </p:txBody>
      </p:sp>
      <p:grpSp>
        <p:nvGrpSpPr>
          <p:cNvPr name="Group 11" id="11"/>
          <p:cNvGrpSpPr/>
          <p:nvPr/>
        </p:nvGrpSpPr>
        <p:grpSpPr>
          <a:xfrm rot="0">
            <a:off x="4142064" y="6272700"/>
            <a:ext cx="920640" cy="928838"/>
            <a:chOff x="0" y="0"/>
            <a:chExt cx="805626" cy="812800"/>
          </a:xfrm>
        </p:grpSpPr>
        <p:sp>
          <p:nvSpPr>
            <p:cNvPr name="Freeform 12" id="12"/>
            <p:cNvSpPr/>
            <p:nvPr/>
          </p:nvSpPr>
          <p:spPr>
            <a:xfrm flipH="false" flipV="false" rot="0">
              <a:off x="0" y="0"/>
              <a:ext cx="805626" cy="812800"/>
            </a:xfrm>
            <a:custGeom>
              <a:avLst/>
              <a:gdLst/>
              <a:ahLst/>
              <a:cxnLst/>
              <a:rect r="r" b="b" t="t" l="l"/>
              <a:pathLst>
                <a:path h="812800" w="805626">
                  <a:moveTo>
                    <a:pt x="402813" y="0"/>
                  </a:moveTo>
                  <a:cubicBezTo>
                    <a:pt x="180346" y="0"/>
                    <a:pt x="0" y="181951"/>
                    <a:pt x="0" y="406400"/>
                  </a:cubicBezTo>
                  <a:cubicBezTo>
                    <a:pt x="0" y="630849"/>
                    <a:pt x="180346" y="812800"/>
                    <a:pt x="402813" y="812800"/>
                  </a:cubicBezTo>
                  <a:cubicBezTo>
                    <a:pt x="625281" y="812800"/>
                    <a:pt x="805626" y="630849"/>
                    <a:pt x="805626" y="406400"/>
                  </a:cubicBezTo>
                  <a:cubicBezTo>
                    <a:pt x="805626" y="181951"/>
                    <a:pt x="625281" y="0"/>
                    <a:pt x="402813" y="0"/>
                  </a:cubicBezTo>
                  <a:close/>
                </a:path>
              </a:pathLst>
            </a:custGeom>
            <a:solidFill>
              <a:srgbClr val="88DEF1"/>
            </a:solidFill>
          </p:spPr>
        </p:sp>
        <p:sp>
          <p:nvSpPr>
            <p:cNvPr name="TextBox 13" id="13"/>
            <p:cNvSpPr txBox="true"/>
            <p:nvPr/>
          </p:nvSpPr>
          <p:spPr>
            <a:xfrm>
              <a:off x="75527" y="19050"/>
              <a:ext cx="654571" cy="717550"/>
            </a:xfrm>
            <a:prstGeom prst="rect">
              <a:avLst/>
            </a:prstGeom>
          </p:spPr>
          <p:txBody>
            <a:bodyPr anchor="ctr" rtlCol="false" tIns="50800" lIns="50800" bIns="50800" rIns="50800"/>
            <a:lstStyle/>
            <a:p>
              <a:pPr algn="ctr">
                <a:lnSpc>
                  <a:spcPts val="3219"/>
                </a:lnSpc>
              </a:pPr>
              <a:r>
                <a:rPr lang="en-US" b="true" sz="2299" spc="112">
                  <a:solidFill>
                    <a:srgbClr val="0D3B8A"/>
                  </a:solidFill>
                  <a:latin typeface="Asap Bold"/>
                  <a:ea typeface="Asap Bold"/>
                  <a:cs typeface="Asap Bold"/>
                  <a:sym typeface="Asap Bold"/>
                </a:rPr>
                <a:t>3</a:t>
              </a:r>
            </a:p>
          </p:txBody>
        </p:sp>
      </p:grpSp>
      <p:sp>
        <p:nvSpPr>
          <p:cNvPr name="TextBox 14" id="14"/>
          <p:cNvSpPr txBox="true"/>
          <p:nvPr/>
        </p:nvSpPr>
        <p:spPr>
          <a:xfrm rot="0">
            <a:off x="5263005" y="4957125"/>
            <a:ext cx="7260419" cy="540261"/>
          </a:xfrm>
          <a:prstGeom prst="rect">
            <a:avLst/>
          </a:prstGeom>
        </p:spPr>
        <p:txBody>
          <a:bodyPr anchor="t" rtlCol="false" tIns="0" lIns="0" bIns="0" rIns="0">
            <a:spAutoFit/>
          </a:bodyPr>
          <a:lstStyle/>
          <a:p>
            <a:pPr algn="l">
              <a:lnSpc>
                <a:spcPts val="4346"/>
              </a:lnSpc>
              <a:spcBef>
                <a:spcPct val="0"/>
              </a:spcBef>
            </a:pPr>
            <a:r>
              <a:rPr lang="en-US" b="true" sz="3104" spc="152">
                <a:solidFill>
                  <a:srgbClr val="0D3B8A"/>
                </a:solidFill>
                <a:latin typeface="Asap Bold"/>
                <a:ea typeface="Asap Bold"/>
                <a:cs typeface="Asap Bold"/>
                <a:sym typeface="Asap Bold"/>
              </a:rPr>
              <a:t>PHÂN TÍCH &amp; THIẾT KẾ HỆ THỐNG</a:t>
            </a:r>
          </a:p>
        </p:txBody>
      </p:sp>
      <p:sp>
        <p:nvSpPr>
          <p:cNvPr name="TextBox 15" id="15"/>
          <p:cNvSpPr txBox="true"/>
          <p:nvPr/>
        </p:nvSpPr>
        <p:spPr>
          <a:xfrm rot="0">
            <a:off x="5268847" y="6430836"/>
            <a:ext cx="5633979" cy="540261"/>
          </a:xfrm>
          <a:prstGeom prst="rect">
            <a:avLst/>
          </a:prstGeom>
        </p:spPr>
        <p:txBody>
          <a:bodyPr anchor="t" rtlCol="false" tIns="0" lIns="0" bIns="0" rIns="0">
            <a:spAutoFit/>
          </a:bodyPr>
          <a:lstStyle/>
          <a:p>
            <a:pPr algn="l">
              <a:lnSpc>
                <a:spcPts val="4346"/>
              </a:lnSpc>
              <a:spcBef>
                <a:spcPct val="0"/>
              </a:spcBef>
            </a:pPr>
            <a:r>
              <a:rPr lang="en-US" b="true" sz="3104" spc="152">
                <a:solidFill>
                  <a:srgbClr val="0D3B8A"/>
                </a:solidFill>
                <a:latin typeface="Asap Bold"/>
                <a:ea typeface="Asap Bold"/>
                <a:cs typeface="Asap Bold"/>
                <a:sym typeface="Asap Bold"/>
              </a:rPr>
              <a:t>CÀI ĐẶT VÀ KIỂM THỬ</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687247" y="4032644"/>
            <a:ext cx="12304565" cy="984034"/>
          </a:xfrm>
          <a:prstGeom prst="rect">
            <a:avLst/>
          </a:prstGeom>
        </p:spPr>
        <p:txBody>
          <a:bodyPr anchor="t" rtlCol="false" tIns="0" lIns="0" bIns="0" rIns="0">
            <a:spAutoFit/>
          </a:bodyPr>
          <a:lstStyle/>
          <a:p>
            <a:pPr algn="l">
              <a:lnSpc>
                <a:spcPts val="7728"/>
              </a:lnSpc>
            </a:pPr>
            <a:r>
              <a:rPr lang="en-US" b="true" sz="6335" spc="310">
                <a:solidFill>
                  <a:srgbClr val="0D3B8A"/>
                </a:solidFill>
                <a:latin typeface="Montserrat Bold"/>
                <a:ea typeface="Montserrat Bold"/>
                <a:cs typeface="Montserrat Bold"/>
                <a:sym typeface="Montserrat Bold"/>
              </a:rPr>
              <a:t>ĐẶC TẢ YÊU CẦU</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sp>
        <p:nvSpPr>
          <p:cNvPr name="TextBox 6" id="6"/>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MÔ HÌNH CA SỬ DỤNG</a:t>
            </a:r>
          </a:p>
        </p:txBody>
      </p:sp>
      <p:graphicFrame>
        <p:nvGraphicFramePr>
          <p:cNvPr name="Object 7" id="7"/>
          <p:cNvGraphicFramePr/>
          <p:nvPr/>
        </p:nvGraphicFramePr>
        <p:xfrm>
          <a:off x="3691949" y="2257327"/>
          <a:ext cx="5029200" cy="1676400"/>
        </p:xfrm>
        <a:graphic>
          <a:graphicData uri="http://schemas.openxmlformats.org/presentationml/2006/ole">
            <p:oleObj imgW="6032500" imgH="26797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8" id="8"/>
          <p:cNvSpPr txBox="true"/>
          <p:nvPr/>
        </p:nvSpPr>
        <p:spPr>
          <a:xfrm rot="0">
            <a:off x="6985279" y="9163050"/>
            <a:ext cx="3789164" cy="1080649"/>
          </a:xfrm>
          <a:prstGeom prst="rect">
            <a:avLst/>
          </a:prstGeom>
        </p:spPr>
        <p:txBody>
          <a:bodyPr anchor="t" rtlCol="false" tIns="0" lIns="0" bIns="0" rIns="0">
            <a:spAutoFit/>
          </a:bodyPr>
          <a:lstStyle/>
          <a:p>
            <a:pPr algn="ctr">
              <a:lnSpc>
                <a:spcPts val="4447"/>
              </a:lnSpc>
            </a:pPr>
            <a:r>
              <a:rPr lang="en-US" sz="2797" b="true">
                <a:solidFill>
                  <a:srgbClr val="1F407A"/>
                </a:solidFill>
                <a:latin typeface="Montserrat Bold"/>
                <a:ea typeface="Montserrat Bold"/>
                <a:cs typeface="Montserrat Bold"/>
                <a:sym typeface="Montserrat Bold"/>
              </a:rPr>
              <a:t>Bảng đặc tả yêu cầu</a:t>
            </a:r>
          </a:p>
          <a:p>
            <a:pPr algn="ctr">
              <a:lnSpc>
                <a:spcPts val="4447"/>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sp>
        <p:nvSpPr>
          <p:cNvPr name="Freeform 6" id="6"/>
          <p:cNvSpPr/>
          <p:nvPr/>
        </p:nvSpPr>
        <p:spPr>
          <a:xfrm flipH="false" flipV="false" rot="0">
            <a:off x="2479678" y="2193557"/>
            <a:ext cx="13328644" cy="8630297"/>
          </a:xfrm>
          <a:custGeom>
            <a:avLst/>
            <a:gdLst/>
            <a:ahLst/>
            <a:cxnLst/>
            <a:rect r="r" b="b" t="t" l="l"/>
            <a:pathLst>
              <a:path h="8630297" w="13328644">
                <a:moveTo>
                  <a:pt x="0" y="0"/>
                </a:moveTo>
                <a:lnTo>
                  <a:pt x="13328644" y="0"/>
                </a:lnTo>
                <a:lnTo>
                  <a:pt x="13328644" y="8630297"/>
                </a:lnTo>
                <a:lnTo>
                  <a:pt x="0" y="8630297"/>
                </a:lnTo>
                <a:lnTo>
                  <a:pt x="0" y="0"/>
                </a:lnTo>
                <a:close/>
              </a:path>
            </a:pathLst>
          </a:custGeom>
          <a:blipFill>
            <a:blip r:embed="rId4"/>
            <a:stretch>
              <a:fillRect l="0" t="0" r="0" b="0"/>
            </a:stretch>
          </a:blipFill>
        </p:spPr>
      </p:sp>
      <p:sp>
        <p:nvSpPr>
          <p:cNvPr name="TextBox 7" id="7"/>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MÔ HÌNH CA SỬ DỤNG</a:t>
            </a:r>
          </a:p>
        </p:txBody>
      </p:sp>
      <p:sp>
        <p:nvSpPr>
          <p:cNvPr name="TextBox 8" id="8"/>
          <p:cNvSpPr txBox="true"/>
          <p:nvPr/>
        </p:nvSpPr>
        <p:spPr>
          <a:xfrm rot="0">
            <a:off x="890497" y="2098307"/>
            <a:ext cx="5522863" cy="518674"/>
          </a:xfrm>
          <a:prstGeom prst="rect">
            <a:avLst/>
          </a:prstGeom>
        </p:spPr>
        <p:txBody>
          <a:bodyPr anchor="t" rtlCol="false" tIns="0" lIns="0" bIns="0" rIns="0">
            <a:spAutoFit/>
          </a:bodyPr>
          <a:lstStyle/>
          <a:p>
            <a:pPr algn="ctr">
              <a:lnSpc>
                <a:spcPts val="4447"/>
              </a:lnSpc>
              <a:spcBef>
                <a:spcPct val="0"/>
              </a:spcBef>
            </a:pPr>
            <a:r>
              <a:rPr lang="en-US" b="true" sz="2797">
                <a:solidFill>
                  <a:srgbClr val="1F407A"/>
                </a:solidFill>
                <a:latin typeface="Montserrat Bold"/>
                <a:ea typeface="Montserrat Bold"/>
                <a:cs typeface="Montserrat Bold"/>
                <a:sym typeface="Montserrat Bold"/>
              </a:rPr>
              <a:t>Biểu đồ ca sử dụng tổng quát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sp>
        <p:nvSpPr>
          <p:cNvPr name="Freeform 6" id="6"/>
          <p:cNvSpPr/>
          <p:nvPr/>
        </p:nvSpPr>
        <p:spPr>
          <a:xfrm flipH="false" flipV="false" rot="0">
            <a:off x="3910228" y="2820791"/>
            <a:ext cx="10339595" cy="7150041"/>
          </a:xfrm>
          <a:custGeom>
            <a:avLst/>
            <a:gdLst/>
            <a:ahLst/>
            <a:cxnLst/>
            <a:rect r="r" b="b" t="t" l="l"/>
            <a:pathLst>
              <a:path h="7150041" w="10339595">
                <a:moveTo>
                  <a:pt x="0" y="0"/>
                </a:moveTo>
                <a:lnTo>
                  <a:pt x="10339594" y="0"/>
                </a:lnTo>
                <a:lnTo>
                  <a:pt x="10339594" y="7150042"/>
                </a:lnTo>
                <a:lnTo>
                  <a:pt x="0" y="7150042"/>
                </a:lnTo>
                <a:lnTo>
                  <a:pt x="0" y="0"/>
                </a:lnTo>
                <a:close/>
              </a:path>
            </a:pathLst>
          </a:custGeom>
          <a:blipFill>
            <a:blip r:embed="rId4"/>
            <a:stretch>
              <a:fillRect l="0" t="0" r="0" b="0"/>
            </a:stretch>
          </a:blipFill>
        </p:spPr>
      </p:sp>
      <p:sp>
        <p:nvSpPr>
          <p:cNvPr name="TextBox 7" id="7"/>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MÔ HÌNH CA SỬ DỤNG</a:t>
            </a:r>
          </a:p>
        </p:txBody>
      </p:sp>
      <p:sp>
        <p:nvSpPr>
          <p:cNvPr name="TextBox 8" id="8"/>
          <p:cNvSpPr txBox="true"/>
          <p:nvPr/>
        </p:nvSpPr>
        <p:spPr>
          <a:xfrm rot="0">
            <a:off x="890497" y="2067285"/>
            <a:ext cx="3789164" cy="1080649"/>
          </a:xfrm>
          <a:prstGeom prst="rect">
            <a:avLst/>
          </a:prstGeom>
        </p:spPr>
        <p:txBody>
          <a:bodyPr anchor="t" rtlCol="false" tIns="0" lIns="0" bIns="0" rIns="0">
            <a:spAutoFit/>
          </a:bodyPr>
          <a:lstStyle/>
          <a:p>
            <a:pPr algn="ctr">
              <a:lnSpc>
                <a:spcPts val="4447"/>
              </a:lnSpc>
            </a:pPr>
            <a:r>
              <a:rPr lang="en-US" sz="2797" b="true">
                <a:solidFill>
                  <a:srgbClr val="1F407A"/>
                </a:solidFill>
                <a:latin typeface="Montserrat Bold"/>
                <a:ea typeface="Montserrat Bold"/>
                <a:cs typeface="Montserrat Bold"/>
                <a:sym typeface="Montserrat Bold"/>
              </a:rPr>
              <a:t>Bảng đặc tả yêu cầu</a:t>
            </a:r>
          </a:p>
          <a:p>
            <a:pPr algn="ctr">
              <a:lnSpc>
                <a:spcPts val="4447"/>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sp>
        <p:nvSpPr>
          <p:cNvPr name="Freeform 6" id="6"/>
          <p:cNvSpPr/>
          <p:nvPr/>
        </p:nvSpPr>
        <p:spPr>
          <a:xfrm flipH="false" flipV="false" rot="0">
            <a:off x="3930708" y="2655235"/>
            <a:ext cx="9705083" cy="7359571"/>
          </a:xfrm>
          <a:custGeom>
            <a:avLst/>
            <a:gdLst/>
            <a:ahLst/>
            <a:cxnLst/>
            <a:rect r="r" b="b" t="t" l="l"/>
            <a:pathLst>
              <a:path h="7359571" w="9705083">
                <a:moveTo>
                  <a:pt x="0" y="0"/>
                </a:moveTo>
                <a:lnTo>
                  <a:pt x="9705083" y="0"/>
                </a:lnTo>
                <a:lnTo>
                  <a:pt x="9705083" y="7359571"/>
                </a:lnTo>
                <a:lnTo>
                  <a:pt x="0" y="7359571"/>
                </a:lnTo>
                <a:lnTo>
                  <a:pt x="0" y="0"/>
                </a:lnTo>
                <a:close/>
              </a:path>
            </a:pathLst>
          </a:custGeom>
          <a:blipFill>
            <a:blip r:embed="rId4"/>
            <a:stretch>
              <a:fillRect l="0" t="0" r="0" b="0"/>
            </a:stretch>
          </a:blipFill>
        </p:spPr>
      </p:sp>
      <p:sp>
        <p:nvSpPr>
          <p:cNvPr name="TextBox 7" id="7"/>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MÔ HÌNH CA SỬ DỤNG</a:t>
            </a:r>
          </a:p>
        </p:txBody>
      </p:sp>
      <p:sp>
        <p:nvSpPr>
          <p:cNvPr name="TextBox 8" id="8"/>
          <p:cNvSpPr txBox="true"/>
          <p:nvPr/>
        </p:nvSpPr>
        <p:spPr>
          <a:xfrm rot="0">
            <a:off x="890497" y="2067285"/>
            <a:ext cx="3789164" cy="1080649"/>
          </a:xfrm>
          <a:prstGeom prst="rect">
            <a:avLst/>
          </a:prstGeom>
        </p:spPr>
        <p:txBody>
          <a:bodyPr anchor="t" rtlCol="false" tIns="0" lIns="0" bIns="0" rIns="0">
            <a:spAutoFit/>
          </a:bodyPr>
          <a:lstStyle/>
          <a:p>
            <a:pPr algn="ctr">
              <a:lnSpc>
                <a:spcPts val="4447"/>
              </a:lnSpc>
            </a:pPr>
            <a:r>
              <a:rPr lang="en-US" sz="2797" b="true">
                <a:solidFill>
                  <a:srgbClr val="1F407A"/>
                </a:solidFill>
                <a:latin typeface="Montserrat Bold"/>
                <a:ea typeface="Montserrat Bold"/>
                <a:cs typeface="Montserrat Bold"/>
                <a:sym typeface="Montserrat Bold"/>
              </a:rPr>
              <a:t>Bảng đặc tả yêu cầu</a:t>
            </a:r>
          </a:p>
          <a:p>
            <a:pPr algn="ctr">
              <a:lnSpc>
                <a:spcPts val="4447"/>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044503" y="4164961"/>
            <a:ext cx="12198995" cy="758836"/>
          </a:xfrm>
          <a:prstGeom prst="rect">
            <a:avLst/>
          </a:prstGeom>
        </p:spPr>
        <p:txBody>
          <a:bodyPr anchor="t" rtlCol="false" tIns="0" lIns="0" bIns="0" rIns="0">
            <a:spAutoFit/>
          </a:bodyPr>
          <a:lstStyle/>
          <a:p>
            <a:pPr algn="ctr">
              <a:lnSpc>
                <a:spcPts val="6094"/>
              </a:lnSpc>
            </a:pPr>
            <a:r>
              <a:rPr lang="en-US" b="true" sz="4995" spc="244">
                <a:solidFill>
                  <a:srgbClr val="0D3B8A"/>
                </a:solidFill>
                <a:latin typeface="Montserrat Bold"/>
                <a:ea typeface="Montserrat Bold"/>
                <a:cs typeface="Montserrat Bold"/>
                <a:sym typeface="Montserrat Bold"/>
              </a:rPr>
              <a:t>PHÂN TÍCH &amp; THIẾT KẾ HỆ THỐNG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sp>
        <p:nvSpPr>
          <p:cNvPr name="Freeform 6" id="6"/>
          <p:cNvSpPr/>
          <p:nvPr/>
        </p:nvSpPr>
        <p:spPr>
          <a:xfrm flipH="false" flipV="false" rot="0">
            <a:off x="795741" y="1978418"/>
            <a:ext cx="10347119" cy="8308582"/>
          </a:xfrm>
          <a:custGeom>
            <a:avLst/>
            <a:gdLst/>
            <a:ahLst/>
            <a:cxnLst/>
            <a:rect r="r" b="b" t="t" l="l"/>
            <a:pathLst>
              <a:path h="8308582" w="10347119">
                <a:moveTo>
                  <a:pt x="0" y="0"/>
                </a:moveTo>
                <a:lnTo>
                  <a:pt x="10347119" y="0"/>
                </a:lnTo>
                <a:lnTo>
                  <a:pt x="10347119" y="8308582"/>
                </a:lnTo>
                <a:lnTo>
                  <a:pt x="0" y="8308582"/>
                </a:lnTo>
                <a:lnTo>
                  <a:pt x="0" y="0"/>
                </a:lnTo>
                <a:close/>
              </a:path>
            </a:pathLst>
          </a:custGeom>
          <a:blipFill>
            <a:blip r:embed="rId4"/>
            <a:stretch>
              <a:fillRect l="0" t="0" r="0" b="0"/>
            </a:stretch>
          </a:blipFill>
        </p:spPr>
      </p:sp>
      <p:sp>
        <p:nvSpPr>
          <p:cNvPr name="TextBox 7" id="7"/>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PHÂN TÍCH KIẾN TRÚC</a:t>
            </a:r>
          </a:p>
        </p:txBody>
      </p:sp>
      <p:sp>
        <p:nvSpPr>
          <p:cNvPr name="TextBox 8" id="8"/>
          <p:cNvSpPr txBox="true"/>
          <p:nvPr/>
        </p:nvSpPr>
        <p:spPr>
          <a:xfrm rot="0">
            <a:off x="10757647" y="3052684"/>
            <a:ext cx="7530353" cy="4452499"/>
          </a:xfrm>
          <a:prstGeom prst="rect">
            <a:avLst/>
          </a:prstGeom>
        </p:spPr>
        <p:txBody>
          <a:bodyPr anchor="t" rtlCol="false" tIns="0" lIns="0" bIns="0" rIns="0">
            <a:spAutoFit/>
          </a:bodyPr>
          <a:lstStyle/>
          <a:p>
            <a:pPr algn="l" marL="603940" indent="-301970" lvl="1">
              <a:lnSpc>
                <a:spcPts val="4447"/>
              </a:lnSpc>
              <a:spcBef>
                <a:spcPct val="0"/>
              </a:spcBef>
              <a:buFont typeface="Arial"/>
              <a:buChar char="•"/>
            </a:pPr>
            <a:r>
              <a:rPr lang="en-US" b="true" sz="2797">
                <a:solidFill>
                  <a:srgbClr val="1F407A"/>
                </a:solidFill>
                <a:latin typeface="Montserrat Bold"/>
                <a:ea typeface="Montserrat Bold"/>
                <a:cs typeface="Montserrat Bold"/>
                <a:sym typeface="Montserrat Bold"/>
              </a:rPr>
              <a:t>Lớp view chứa các màn hính chính trong ứng dụng</a:t>
            </a:r>
          </a:p>
          <a:p>
            <a:pPr algn="l" marL="603940" indent="-301970" lvl="1">
              <a:lnSpc>
                <a:spcPts val="4447"/>
              </a:lnSpc>
              <a:spcBef>
                <a:spcPct val="0"/>
              </a:spcBef>
              <a:buFont typeface="Arial"/>
              <a:buChar char="•"/>
            </a:pPr>
            <a:r>
              <a:rPr lang="en-US" b="true" sz="2797">
                <a:solidFill>
                  <a:srgbClr val="1F407A"/>
                </a:solidFill>
                <a:latin typeface="Montserrat Bold"/>
                <a:ea typeface="Montserrat Bold"/>
                <a:cs typeface="Montserrat Bold"/>
                <a:sym typeface="Montserrat Bold"/>
              </a:rPr>
              <a:t>Lớp ViewModel chứa các business logic xử lý về audio, về authentication và về nhận diện khuôn mặt</a:t>
            </a:r>
          </a:p>
          <a:p>
            <a:pPr algn="l" marL="603940" indent="-301970" lvl="1">
              <a:lnSpc>
                <a:spcPts val="4447"/>
              </a:lnSpc>
              <a:spcBef>
                <a:spcPct val="0"/>
              </a:spcBef>
              <a:buFont typeface="Arial"/>
              <a:buChar char="•"/>
            </a:pPr>
            <a:r>
              <a:rPr lang="en-US" b="true" sz="2797">
                <a:solidFill>
                  <a:srgbClr val="1F407A"/>
                </a:solidFill>
                <a:latin typeface="Montserrat Bold"/>
                <a:ea typeface="Montserrat Bold"/>
                <a:cs typeface="Montserrat Bold"/>
                <a:sym typeface="Montserrat Bold"/>
              </a:rPr>
              <a:t>Lớp Model sẽ quản lý và cung cấp dữ liệu cho ViewModel</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sp>
        <p:nvSpPr>
          <p:cNvPr name="Freeform 6" id="6"/>
          <p:cNvSpPr/>
          <p:nvPr/>
        </p:nvSpPr>
        <p:spPr>
          <a:xfrm flipH="false" flipV="false" rot="0">
            <a:off x="4552172" y="2233036"/>
            <a:ext cx="9773958" cy="7843602"/>
          </a:xfrm>
          <a:custGeom>
            <a:avLst/>
            <a:gdLst/>
            <a:ahLst/>
            <a:cxnLst/>
            <a:rect r="r" b="b" t="t" l="l"/>
            <a:pathLst>
              <a:path h="7843602" w="9773958">
                <a:moveTo>
                  <a:pt x="0" y="0"/>
                </a:moveTo>
                <a:lnTo>
                  <a:pt x="9773958" y="0"/>
                </a:lnTo>
                <a:lnTo>
                  <a:pt x="9773958" y="7843602"/>
                </a:lnTo>
                <a:lnTo>
                  <a:pt x="0" y="7843602"/>
                </a:lnTo>
                <a:lnTo>
                  <a:pt x="0" y="0"/>
                </a:lnTo>
                <a:close/>
              </a:path>
            </a:pathLst>
          </a:custGeom>
          <a:blipFill>
            <a:blip r:embed="rId4"/>
            <a:stretch>
              <a:fillRect l="0" t="0" r="0" b="0"/>
            </a:stretch>
          </a:blipFill>
        </p:spPr>
      </p:sp>
      <p:sp>
        <p:nvSpPr>
          <p:cNvPr name="TextBox 7" id="7"/>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PHÂN TÍCH CA SỬ DỤNG</a:t>
            </a:r>
          </a:p>
        </p:txBody>
      </p:sp>
      <p:sp>
        <p:nvSpPr>
          <p:cNvPr name="TextBox 8" id="8"/>
          <p:cNvSpPr txBox="true"/>
          <p:nvPr/>
        </p:nvSpPr>
        <p:spPr>
          <a:xfrm rot="0">
            <a:off x="890497" y="2243374"/>
            <a:ext cx="3661674" cy="1123321"/>
          </a:xfrm>
          <a:prstGeom prst="rect">
            <a:avLst/>
          </a:prstGeom>
        </p:spPr>
        <p:txBody>
          <a:bodyPr anchor="t" rtlCol="false" tIns="0" lIns="0" bIns="0" rIns="0">
            <a:spAutoFit/>
          </a:bodyPr>
          <a:lstStyle/>
          <a:p>
            <a:pPr algn="l">
              <a:lnSpc>
                <a:spcPts val="4606"/>
              </a:lnSpc>
              <a:spcBef>
                <a:spcPct val="0"/>
              </a:spcBef>
            </a:pPr>
            <a:r>
              <a:rPr lang="en-US" b="true" sz="2897">
                <a:solidFill>
                  <a:srgbClr val="1F407A"/>
                </a:solidFill>
                <a:latin typeface="Montserrat Bold"/>
                <a:ea typeface="Montserrat Bold"/>
                <a:cs typeface="Montserrat Bold"/>
                <a:sym typeface="Montserrat Bold"/>
              </a:rPr>
              <a:t>Nhận cảnh báo nguy hiểm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sp>
        <p:nvSpPr>
          <p:cNvPr name="Freeform 6" id="6"/>
          <p:cNvSpPr/>
          <p:nvPr/>
        </p:nvSpPr>
        <p:spPr>
          <a:xfrm flipH="false" flipV="false" rot="0">
            <a:off x="2620433" y="3031494"/>
            <a:ext cx="13708189" cy="6922636"/>
          </a:xfrm>
          <a:custGeom>
            <a:avLst/>
            <a:gdLst/>
            <a:ahLst/>
            <a:cxnLst/>
            <a:rect r="r" b="b" t="t" l="l"/>
            <a:pathLst>
              <a:path h="6922636" w="13708189">
                <a:moveTo>
                  <a:pt x="0" y="0"/>
                </a:moveTo>
                <a:lnTo>
                  <a:pt x="13708189" y="0"/>
                </a:lnTo>
                <a:lnTo>
                  <a:pt x="13708189" y="6922635"/>
                </a:lnTo>
                <a:lnTo>
                  <a:pt x="0" y="6922635"/>
                </a:lnTo>
                <a:lnTo>
                  <a:pt x="0" y="0"/>
                </a:lnTo>
                <a:close/>
              </a:path>
            </a:pathLst>
          </a:custGeom>
          <a:blipFill>
            <a:blip r:embed="rId4"/>
            <a:stretch>
              <a:fillRect l="0" t="0" r="0" b="0"/>
            </a:stretch>
          </a:blipFill>
        </p:spPr>
      </p:sp>
      <p:sp>
        <p:nvSpPr>
          <p:cNvPr name="TextBox 7" id="7"/>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PHÂN TÍCH CA SỬ DỤNG</a:t>
            </a:r>
          </a:p>
        </p:txBody>
      </p:sp>
      <p:sp>
        <p:nvSpPr>
          <p:cNvPr name="TextBox 8" id="8"/>
          <p:cNvSpPr txBox="true"/>
          <p:nvPr/>
        </p:nvSpPr>
        <p:spPr>
          <a:xfrm rot="0">
            <a:off x="622021" y="2243374"/>
            <a:ext cx="8952244" cy="542296"/>
          </a:xfrm>
          <a:prstGeom prst="rect">
            <a:avLst/>
          </a:prstGeom>
        </p:spPr>
        <p:txBody>
          <a:bodyPr anchor="t" rtlCol="false" tIns="0" lIns="0" bIns="0" rIns="0">
            <a:spAutoFit/>
          </a:bodyPr>
          <a:lstStyle/>
          <a:p>
            <a:pPr algn="l">
              <a:lnSpc>
                <a:spcPts val="4606"/>
              </a:lnSpc>
              <a:spcBef>
                <a:spcPct val="0"/>
              </a:spcBef>
            </a:pPr>
            <a:r>
              <a:rPr lang="en-US" b="true" sz="2897">
                <a:solidFill>
                  <a:srgbClr val="1F407A"/>
                </a:solidFill>
                <a:latin typeface="Montserrat Bold"/>
                <a:ea typeface="Montserrat Bold"/>
                <a:cs typeface="Montserrat Bold"/>
                <a:sym typeface="Montserrat Bold"/>
              </a:rPr>
              <a:t>Nhận gợi ý nhạc dựa theo tâm trạng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278917" y="269779"/>
            <a:ext cx="8711776" cy="9747441"/>
          </a:xfrm>
          <a:custGeom>
            <a:avLst/>
            <a:gdLst/>
            <a:ahLst/>
            <a:cxnLst/>
            <a:rect r="r" b="b" t="t" l="l"/>
            <a:pathLst>
              <a:path h="9747441" w="8711776">
                <a:moveTo>
                  <a:pt x="0" y="0"/>
                </a:moveTo>
                <a:lnTo>
                  <a:pt x="8711776" y="0"/>
                </a:lnTo>
                <a:lnTo>
                  <a:pt x="8711776" y="9747442"/>
                </a:lnTo>
                <a:lnTo>
                  <a:pt x="0" y="9747442"/>
                </a:lnTo>
                <a:lnTo>
                  <a:pt x="0" y="0"/>
                </a:lnTo>
                <a:close/>
              </a:path>
            </a:pathLst>
          </a:custGeom>
          <a:blipFill>
            <a:blip r:embed="rId3"/>
            <a:stretch>
              <a:fillRect l="0" t="0" r="0" b="0"/>
            </a:stretch>
          </a:blipFill>
        </p:spPr>
      </p:sp>
      <p:sp>
        <p:nvSpPr>
          <p:cNvPr name="TextBox 3" id="3"/>
          <p:cNvSpPr txBox="true"/>
          <p:nvPr/>
        </p:nvSpPr>
        <p:spPr>
          <a:xfrm rot="0">
            <a:off x="489575" y="696096"/>
            <a:ext cx="16016815" cy="888165"/>
          </a:xfrm>
          <a:prstGeom prst="rect">
            <a:avLst/>
          </a:prstGeom>
        </p:spPr>
        <p:txBody>
          <a:bodyPr anchor="t" rtlCol="false" tIns="0" lIns="0" bIns="0" rIns="0">
            <a:spAutoFit/>
          </a:bodyPr>
          <a:lstStyle/>
          <a:p>
            <a:pPr algn="l">
              <a:lnSpc>
                <a:spcPts val="7221"/>
              </a:lnSpc>
              <a:spcBef>
                <a:spcPct val="0"/>
              </a:spcBef>
            </a:pPr>
            <a:r>
              <a:rPr lang="en-US" b="true" sz="5157" spc="252">
                <a:solidFill>
                  <a:srgbClr val="0D3B8A"/>
                </a:solidFill>
                <a:latin typeface="Montserrat Ultra-Bold"/>
                <a:ea typeface="Montserrat Ultra-Bold"/>
                <a:cs typeface="Montserrat Ultra-Bold"/>
                <a:sym typeface="Montserrat Ultra-Bold"/>
              </a:rPr>
              <a:t>THIẾT KẾ HỆ THỐNG</a:t>
            </a:r>
          </a:p>
        </p:txBody>
      </p:sp>
      <p:sp>
        <p:nvSpPr>
          <p:cNvPr name="TextBox 4" id="4"/>
          <p:cNvSpPr txBox="true"/>
          <p:nvPr/>
        </p:nvSpPr>
        <p:spPr>
          <a:xfrm rot="0">
            <a:off x="489575" y="3651437"/>
            <a:ext cx="6980945" cy="2850776"/>
          </a:xfrm>
          <a:prstGeom prst="rect">
            <a:avLst/>
          </a:prstGeom>
        </p:spPr>
        <p:txBody>
          <a:bodyPr anchor="t" rtlCol="false" tIns="0" lIns="0" bIns="0" rIns="0">
            <a:spAutoFit/>
          </a:bodyPr>
          <a:lstStyle/>
          <a:p>
            <a:pPr algn="l">
              <a:lnSpc>
                <a:spcPts val="5719"/>
              </a:lnSpc>
              <a:spcBef>
                <a:spcPct val="0"/>
              </a:spcBef>
            </a:pPr>
            <a:r>
              <a:rPr lang="en-US" sz="3597">
                <a:solidFill>
                  <a:srgbClr val="0D3B8A"/>
                </a:solidFill>
                <a:latin typeface="Montserrat"/>
                <a:ea typeface="Montserrat"/>
                <a:cs typeface="Montserrat"/>
                <a:sym typeface="Montserrat"/>
              </a:rPr>
              <a:t>Sau kh</a:t>
            </a:r>
            <a:r>
              <a:rPr lang="en-US" sz="3597">
                <a:solidFill>
                  <a:srgbClr val="0D3B8A"/>
                </a:solidFill>
                <a:latin typeface="Montserrat"/>
                <a:ea typeface="Montserrat"/>
                <a:cs typeface="Montserrat"/>
                <a:sym typeface="Montserrat"/>
              </a:rPr>
              <a:t>i đã có được các thông tin từ pha phân tích, ở pha thiết kế ta có được một biểu đồ lớp hoàn chỉnh</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37186" y="2560233"/>
            <a:ext cx="9099265" cy="5766659"/>
          </a:xfrm>
          <a:custGeom>
            <a:avLst/>
            <a:gdLst/>
            <a:ahLst/>
            <a:cxnLst/>
            <a:rect r="r" b="b" t="t" l="l"/>
            <a:pathLst>
              <a:path h="5766659" w="9099265">
                <a:moveTo>
                  <a:pt x="0" y="0"/>
                </a:moveTo>
                <a:lnTo>
                  <a:pt x="9099265" y="0"/>
                </a:lnTo>
                <a:lnTo>
                  <a:pt x="9099265" y="5766659"/>
                </a:lnTo>
                <a:lnTo>
                  <a:pt x="0" y="5766659"/>
                </a:lnTo>
                <a:lnTo>
                  <a:pt x="0" y="0"/>
                </a:lnTo>
                <a:close/>
              </a:path>
            </a:pathLst>
          </a:custGeom>
          <a:blipFill>
            <a:blip r:embed="rId3"/>
            <a:stretch>
              <a:fillRect l="0" t="0" r="0" b="0"/>
            </a:stretch>
          </a:blipFill>
        </p:spPr>
      </p:sp>
      <p:sp>
        <p:nvSpPr>
          <p:cNvPr name="TextBox 3" id="3"/>
          <p:cNvSpPr txBox="true"/>
          <p:nvPr/>
        </p:nvSpPr>
        <p:spPr>
          <a:xfrm rot="0">
            <a:off x="489575" y="696096"/>
            <a:ext cx="16016815" cy="888165"/>
          </a:xfrm>
          <a:prstGeom prst="rect">
            <a:avLst/>
          </a:prstGeom>
        </p:spPr>
        <p:txBody>
          <a:bodyPr anchor="t" rtlCol="false" tIns="0" lIns="0" bIns="0" rIns="0">
            <a:spAutoFit/>
          </a:bodyPr>
          <a:lstStyle/>
          <a:p>
            <a:pPr algn="l">
              <a:lnSpc>
                <a:spcPts val="7221"/>
              </a:lnSpc>
              <a:spcBef>
                <a:spcPct val="0"/>
              </a:spcBef>
            </a:pPr>
            <a:r>
              <a:rPr lang="en-US" b="true" sz="5157" spc="252">
                <a:solidFill>
                  <a:srgbClr val="0D3B8A"/>
                </a:solidFill>
                <a:latin typeface="Montserrat Ultra-Bold"/>
                <a:ea typeface="Montserrat Ultra-Bold"/>
                <a:cs typeface="Montserrat Ultra-Bold"/>
                <a:sym typeface="Montserrat Ultra-Bold"/>
              </a:rPr>
              <a:t>THIẾT KẾ DỮ LIỆU</a:t>
            </a:r>
          </a:p>
        </p:txBody>
      </p:sp>
      <p:sp>
        <p:nvSpPr>
          <p:cNvPr name="TextBox 4" id="4"/>
          <p:cNvSpPr txBox="true"/>
          <p:nvPr/>
        </p:nvSpPr>
        <p:spPr>
          <a:xfrm rot="0">
            <a:off x="489575" y="2141749"/>
            <a:ext cx="6980945" cy="6470276"/>
          </a:xfrm>
          <a:prstGeom prst="rect">
            <a:avLst/>
          </a:prstGeom>
        </p:spPr>
        <p:txBody>
          <a:bodyPr anchor="t" rtlCol="false" tIns="0" lIns="0" bIns="0" rIns="0">
            <a:spAutoFit/>
          </a:bodyPr>
          <a:lstStyle/>
          <a:p>
            <a:pPr algn="l">
              <a:lnSpc>
                <a:spcPts val="5719"/>
              </a:lnSpc>
              <a:spcBef>
                <a:spcPct val="0"/>
              </a:spcBef>
            </a:pPr>
            <a:r>
              <a:rPr lang="en-US" sz="3597">
                <a:solidFill>
                  <a:srgbClr val="0D3B8A"/>
                </a:solidFill>
                <a:latin typeface="Montserrat"/>
                <a:ea typeface="Montserrat"/>
                <a:cs typeface="Montserrat"/>
                <a:sym typeface="Montserrat"/>
              </a:rPr>
              <a:t>Bảng users: </a:t>
            </a:r>
            <a:r>
              <a:rPr lang="en-US" sz="3597">
                <a:solidFill>
                  <a:srgbClr val="0D3B8A"/>
                </a:solidFill>
                <a:latin typeface="Montserrat"/>
                <a:ea typeface="Montserrat"/>
                <a:cs typeface="Montserrat"/>
                <a:sym typeface="Montserrat"/>
              </a:rPr>
              <a:t>id (PK), email, created_at. </a:t>
            </a:r>
          </a:p>
          <a:p>
            <a:pPr algn="l">
              <a:lnSpc>
                <a:spcPts val="5719"/>
              </a:lnSpc>
              <a:spcBef>
                <a:spcPct val="0"/>
              </a:spcBef>
            </a:pPr>
            <a:r>
              <a:rPr lang="en-US" sz="3597">
                <a:solidFill>
                  <a:srgbClr val="0D3B8A"/>
                </a:solidFill>
                <a:latin typeface="Montserrat"/>
                <a:ea typeface="Montserrat"/>
                <a:cs typeface="Montserrat"/>
                <a:sym typeface="Montserrat"/>
              </a:rPr>
              <a:t>Bảng search_history: id (PK), query, timestamp, user_id (FK).</a:t>
            </a:r>
          </a:p>
          <a:p>
            <a:pPr algn="l">
              <a:lnSpc>
                <a:spcPts val="5719"/>
              </a:lnSpc>
              <a:spcBef>
                <a:spcPct val="0"/>
              </a:spcBef>
            </a:pPr>
            <a:r>
              <a:rPr lang="en-US" sz="3597">
                <a:solidFill>
                  <a:srgbClr val="0D3B8A"/>
                </a:solidFill>
                <a:latin typeface="Montserrat"/>
                <a:ea typeface="Montserrat"/>
                <a:cs typeface="Montserrat"/>
                <a:sym typeface="Montserrat"/>
              </a:rPr>
              <a:t>Bảng favorites: id (PK), user_id (FK), media_id (FK). </a:t>
            </a:r>
          </a:p>
          <a:p>
            <a:pPr algn="l">
              <a:lnSpc>
                <a:spcPts val="5719"/>
              </a:lnSpc>
              <a:spcBef>
                <a:spcPct val="0"/>
              </a:spcBef>
            </a:pPr>
            <a:r>
              <a:rPr lang="en-US" sz="3597">
                <a:solidFill>
                  <a:srgbClr val="0D3B8A"/>
                </a:solidFill>
                <a:latin typeface="Montserrat"/>
                <a:ea typeface="Montserrat"/>
                <a:cs typeface="Montserrat"/>
                <a:sym typeface="Montserrat"/>
              </a:rPr>
              <a:t>Bảng media: id (PK), title, type, genre, file_url, thumbnail_url.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70807" y="3424352"/>
            <a:ext cx="2764728" cy="4234269"/>
          </a:xfrm>
          <a:custGeom>
            <a:avLst/>
            <a:gdLst/>
            <a:ahLst/>
            <a:cxnLst/>
            <a:rect r="r" b="b" t="t" l="l"/>
            <a:pathLst>
              <a:path h="4234269" w="2764728">
                <a:moveTo>
                  <a:pt x="0" y="0"/>
                </a:moveTo>
                <a:lnTo>
                  <a:pt x="2764729" y="0"/>
                </a:lnTo>
                <a:lnTo>
                  <a:pt x="2764729" y="4234269"/>
                </a:lnTo>
                <a:lnTo>
                  <a:pt x="0" y="4234269"/>
                </a:lnTo>
                <a:lnTo>
                  <a:pt x="0" y="0"/>
                </a:lnTo>
                <a:close/>
              </a:path>
            </a:pathLst>
          </a:custGeom>
          <a:blipFill>
            <a:blip r:embed="rId3"/>
            <a:stretch>
              <a:fillRect l="0" t="0" r="0" b="0"/>
            </a:stretch>
          </a:blipFill>
        </p:spPr>
      </p:sp>
      <p:sp>
        <p:nvSpPr>
          <p:cNvPr name="Freeform 3" id="3"/>
          <p:cNvSpPr/>
          <p:nvPr/>
        </p:nvSpPr>
        <p:spPr>
          <a:xfrm flipH="false" flipV="false" rot="0">
            <a:off x="9250499" y="3424352"/>
            <a:ext cx="3077970" cy="4234269"/>
          </a:xfrm>
          <a:custGeom>
            <a:avLst/>
            <a:gdLst/>
            <a:ahLst/>
            <a:cxnLst/>
            <a:rect r="r" b="b" t="t" l="l"/>
            <a:pathLst>
              <a:path h="4234269" w="3077970">
                <a:moveTo>
                  <a:pt x="0" y="0"/>
                </a:moveTo>
                <a:lnTo>
                  <a:pt x="3077970" y="0"/>
                </a:lnTo>
                <a:lnTo>
                  <a:pt x="3077970" y="4234269"/>
                </a:lnTo>
                <a:lnTo>
                  <a:pt x="0" y="4234269"/>
                </a:lnTo>
                <a:lnTo>
                  <a:pt x="0" y="0"/>
                </a:lnTo>
                <a:close/>
              </a:path>
            </a:pathLst>
          </a:custGeom>
          <a:blipFill>
            <a:blip r:embed="rId4"/>
            <a:stretch>
              <a:fillRect l="-33812" t="-719" r="0" b="-11178"/>
            </a:stretch>
          </a:blipFill>
        </p:spPr>
      </p:sp>
      <p:sp>
        <p:nvSpPr>
          <p:cNvPr name="TextBox 4" id="4"/>
          <p:cNvSpPr txBox="true"/>
          <p:nvPr/>
        </p:nvSpPr>
        <p:spPr>
          <a:xfrm rot="0">
            <a:off x="489575" y="557218"/>
            <a:ext cx="17521847" cy="1526339"/>
          </a:xfrm>
          <a:prstGeom prst="rect">
            <a:avLst/>
          </a:prstGeom>
        </p:spPr>
        <p:txBody>
          <a:bodyPr anchor="t" rtlCol="false" tIns="0" lIns="0" bIns="0" rIns="0">
            <a:spAutoFit/>
          </a:bodyPr>
          <a:lstStyle/>
          <a:p>
            <a:pPr algn="l">
              <a:lnSpc>
                <a:spcPts val="6521"/>
              </a:lnSpc>
            </a:pPr>
            <a:r>
              <a:rPr lang="en-US" b="true" sz="4657" spc="228">
                <a:solidFill>
                  <a:srgbClr val="0D3B8A"/>
                </a:solidFill>
                <a:latin typeface="Montserrat Ultra-Bold"/>
                <a:ea typeface="Montserrat Ultra-Bold"/>
                <a:cs typeface="Montserrat Ultra-Bold"/>
                <a:sym typeface="Montserrat Ultra-Bold"/>
              </a:rPr>
              <a:t>THIẾT KẾ CHỨC NĂNG </a:t>
            </a:r>
          </a:p>
          <a:p>
            <a:pPr algn="l">
              <a:lnSpc>
                <a:spcPts val="5821"/>
              </a:lnSpc>
              <a:spcBef>
                <a:spcPct val="0"/>
              </a:spcBef>
            </a:pPr>
            <a:r>
              <a:rPr lang="en-US" b="true" sz="4157" spc="203">
                <a:solidFill>
                  <a:srgbClr val="0D3B8A"/>
                </a:solidFill>
                <a:latin typeface="Montserrat Ultra-Bold"/>
                <a:ea typeface="Montserrat Ultra-Bold"/>
                <a:cs typeface="Montserrat Ultra-Bold"/>
                <a:sym typeface="Montserrat Ultra-Bold"/>
              </a:rPr>
              <a:t>GỢI Ý THEO TÂM TRẠNG VÀ CẢNH BÁO NGUY HIỂM</a:t>
            </a:r>
          </a:p>
        </p:txBody>
      </p:sp>
      <p:sp>
        <p:nvSpPr>
          <p:cNvPr name="TextBox 5" id="5"/>
          <p:cNvSpPr txBox="true"/>
          <p:nvPr/>
        </p:nvSpPr>
        <p:spPr>
          <a:xfrm rot="0">
            <a:off x="1028700" y="2890439"/>
            <a:ext cx="6589866" cy="7391400"/>
          </a:xfrm>
          <a:prstGeom prst="rect">
            <a:avLst/>
          </a:prstGeom>
        </p:spPr>
        <p:txBody>
          <a:bodyPr anchor="t" rtlCol="false" tIns="0" lIns="0" bIns="0" rIns="0">
            <a:spAutoFit/>
          </a:bodyPr>
          <a:lstStyle/>
          <a:p>
            <a:pPr algn="l">
              <a:lnSpc>
                <a:spcPts val="3974"/>
              </a:lnSpc>
              <a:spcBef>
                <a:spcPct val="0"/>
              </a:spcBef>
            </a:pPr>
            <a:r>
              <a:rPr lang="en-US" b="true" sz="2499">
                <a:solidFill>
                  <a:srgbClr val="0D3B8A"/>
                </a:solidFill>
                <a:latin typeface="Montserrat Bold"/>
                <a:ea typeface="Montserrat Bold"/>
                <a:cs typeface="Montserrat Bold"/>
                <a:sym typeface="Montserrat Bold"/>
              </a:rPr>
              <a:t>Trước tiên, khóa luận dùng FaceMesh Detection API của MLKit để lấy dữ liệu lưới khuôn mặt từ hình ảnh camera</a:t>
            </a:r>
          </a:p>
          <a:p>
            <a:pPr algn="l">
              <a:lnSpc>
                <a:spcPts val="3974"/>
              </a:lnSpc>
              <a:spcBef>
                <a:spcPct val="0"/>
              </a:spcBef>
            </a:pPr>
          </a:p>
          <a:p>
            <a:pPr algn="l">
              <a:lnSpc>
                <a:spcPts val="3974"/>
              </a:lnSpc>
              <a:spcBef>
                <a:spcPct val="0"/>
              </a:spcBef>
            </a:pPr>
            <a:r>
              <a:rPr lang="en-US" b="true" sz="2499">
                <a:solidFill>
                  <a:srgbClr val="0D3B8A"/>
                </a:solidFill>
                <a:latin typeface="Montserrat Bold"/>
                <a:ea typeface="Montserrat Bold"/>
                <a:cs typeface="Montserrat Bold"/>
                <a:sym typeface="Montserrat Bold"/>
              </a:rPr>
              <a:t>Dữ liệu đầu vào là hình ảnh từ Camera, dữ liệu được trả về từ API là 468 điểm 3D trên khuôn mặt</a:t>
            </a:r>
          </a:p>
          <a:p>
            <a:pPr algn="l">
              <a:lnSpc>
                <a:spcPts val="3974"/>
              </a:lnSpc>
              <a:spcBef>
                <a:spcPct val="0"/>
              </a:spcBef>
            </a:pPr>
          </a:p>
          <a:p>
            <a:pPr algn="l">
              <a:lnSpc>
                <a:spcPts val="3974"/>
              </a:lnSpc>
              <a:spcBef>
                <a:spcPct val="0"/>
              </a:spcBef>
            </a:pPr>
            <a:r>
              <a:rPr lang="en-US" b="true" sz="2499">
                <a:solidFill>
                  <a:srgbClr val="0D3B8A"/>
                </a:solidFill>
                <a:latin typeface="Montserrat Bold"/>
                <a:ea typeface="Montserrat Bold"/>
                <a:cs typeface="Montserrat Bold"/>
                <a:sym typeface="Montserrat Bold"/>
              </a:rPr>
              <a:t>Mỗi điểm gồm các tọa độ x,y,z:</a:t>
            </a:r>
          </a:p>
          <a:p>
            <a:pPr algn="l" marL="539749" indent="-269875" lvl="1">
              <a:lnSpc>
                <a:spcPts val="3974"/>
              </a:lnSpc>
              <a:spcBef>
                <a:spcPct val="0"/>
              </a:spcBef>
              <a:buFont typeface="Arial"/>
              <a:buChar char="•"/>
            </a:pPr>
            <a:r>
              <a:rPr lang="en-US" b="true" sz="2499">
                <a:solidFill>
                  <a:srgbClr val="0D3B8A"/>
                </a:solidFill>
                <a:latin typeface="Montserrat Bold"/>
                <a:ea typeface="Montserrat Bold"/>
                <a:cs typeface="Montserrat Bold"/>
                <a:sym typeface="Montserrat Bold"/>
              </a:rPr>
              <a:t>Tọa độ x và </a:t>
            </a:r>
            <a:r>
              <a:rPr lang="en-US" b="true" sz="2499">
                <a:solidFill>
                  <a:srgbClr val="0D3B8A"/>
                </a:solidFill>
                <a:latin typeface="Montserrat Bold"/>
                <a:ea typeface="Montserrat Bold"/>
                <a:cs typeface="Montserrat Bold"/>
                <a:sym typeface="Montserrat Bold"/>
              </a:rPr>
              <a:t>y</a:t>
            </a:r>
            <a:r>
              <a:rPr lang="en-US" b="true" sz="2499">
                <a:solidFill>
                  <a:srgbClr val="0D3B8A"/>
                </a:solidFill>
                <a:latin typeface="Montserrat Bold"/>
                <a:ea typeface="Montserrat Bold"/>
                <a:cs typeface="Montserrat Bold"/>
                <a:sym typeface="Montserrat Bold"/>
              </a:rPr>
              <a:t> là tọa độ pixel trên hình ảnh.</a:t>
            </a:r>
          </a:p>
          <a:p>
            <a:pPr algn="l" marL="539749" indent="-269875" lvl="1">
              <a:lnSpc>
                <a:spcPts val="3974"/>
              </a:lnSpc>
              <a:spcBef>
                <a:spcPct val="0"/>
              </a:spcBef>
              <a:buFont typeface="Arial"/>
              <a:buChar char="•"/>
            </a:pPr>
            <a:r>
              <a:rPr lang="en-US" b="true" sz="2499">
                <a:solidFill>
                  <a:srgbClr val="0D3B8A"/>
                </a:solidFill>
                <a:latin typeface="Montserrat Bold"/>
                <a:ea typeface="Montserrat Bold"/>
                <a:cs typeface="Montserrat Bold"/>
                <a:sym typeface="Montserrat Bold"/>
              </a:rPr>
              <a:t>Tọa độ </a:t>
            </a:r>
            <a:r>
              <a:rPr lang="en-US" b="true" sz="2499">
                <a:solidFill>
                  <a:srgbClr val="0D3B8A"/>
                </a:solidFill>
                <a:latin typeface="Montserrat Bold"/>
                <a:ea typeface="Montserrat Bold"/>
                <a:cs typeface="Montserrat Bold"/>
                <a:sym typeface="Montserrat Bold"/>
              </a:rPr>
              <a:t>z</a:t>
            </a:r>
            <a:r>
              <a:rPr lang="en-US" b="true" sz="2499">
                <a:solidFill>
                  <a:srgbClr val="0D3B8A"/>
                </a:solidFill>
                <a:latin typeface="Montserrat Bold"/>
                <a:ea typeface="Montserrat Bold"/>
                <a:cs typeface="Montserrat Bold"/>
                <a:sym typeface="Montserrat Bold"/>
              </a:rPr>
              <a:t> biểu thị thông tin chiều sâu tương đối của điểm đó so với camera</a:t>
            </a:r>
          </a:p>
          <a:p>
            <a:pPr algn="l">
              <a:lnSpc>
                <a:spcPts val="3974"/>
              </a:lnSpc>
              <a:spcBef>
                <a:spcPct val="0"/>
              </a:spcBef>
            </a:pPr>
          </a:p>
        </p:txBody>
      </p:sp>
      <p:sp>
        <p:nvSpPr>
          <p:cNvPr name="AutoShape 6" id="6"/>
          <p:cNvSpPr/>
          <p:nvPr/>
        </p:nvSpPr>
        <p:spPr>
          <a:xfrm>
            <a:off x="12787286" y="5541487"/>
            <a:ext cx="1115486" cy="0"/>
          </a:xfrm>
          <a:prstGeom prst="line">
            <a:avLst/>
          </a:prstGeom>
          <a:ln cap="flat" w="123825">
            <a:solidFill>
              <a:srgbClr val="000000"/>
            </a:solidFill>
            <a:prstDash val="solid"/>
            <a:headEnd type="none" len="sm" w="sm"/>
            <a:tailEnd type="arrow" len="sm" w="med"/>
          </a:ln>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246415" y="3259066"/>
            <a:ext cx="9765007" cy="5212073"/>
          </a:xfrm>
          <a:custGeom>
            <a:avLst/>
            <a:gdLst/>
            <a:ahLst/>
            <a:cxnLst/>
            <a:rect r="r" b="b" t="t" l="l"/>
            <a:pathLst>
              <a:path h="5212073" w="9765007">
                <a:moveTo>
                  <a:pt x="0" y="0"/>
                </a:moveTo>
                <a:lnTo>
                  <a:pt x="9765007" y="0"/>
                </a:lnTo>
                <a:lnTo>
                  <a:pt x="9765007" y="5212073"/>
                </a:lnTo>
                <a:lnTo>
                  <a:pt x="0" y="5212073"/>
                </a:lnTo>
                <a:lnTo>
                  <a:pt x="0" y="0"/>
                </a:lnTo>
                <a:close/>
              </a:path>
            </a:pathLst>
          </a:custGeom>
          <a:blipFill>
            <a:blip r:embed="rId3"/>
            <a:stretch>
              <a:fillRect l="0" t="0" r="0" b="0"/>
            </a:stretch>
          </a:blipFill>
        </p:spPr>
      </p:sp>
      <p:sp>
        <p:nvSpPr>
          <p:cNvPr name="TextBox 3" id="3"/>
          <p:cNvSpPr txBox="true"/>
          <p:nvPr/>
        </p:nvSpPr>
        <p:spPr>
          <a:xfrm rot="0">
            <a:off x="753278" y="3462513"/>
            <a:ext cx="6589866" cy="4298443"/>
          </a:xfrm>
          <a:prstGeom prst="rect">
            <a:avLst/>
          </a:prstGeom>
        </p:spPr>
        <p:txBody>
          <a:bodyPr anchor="t" rtlCol="false" tIns="0" lIns="0" bIns="0" rIns="0">
            <a:spAutoFit/>
          </a:bodyPr>
          <a:lstStyle/>
          <a:p>
            <a:pPr algn="l">
              <a:lnSpc>
                <a:spcPts val="5723"/>
              </a:lnSpc>
            </a:pPr>
            <a:r>
              <a:rPr lang="en-US" sz="3599" b="true">
                <a:solidFill>
                  <a:srgbClr val="0D3B8A"/>
                </a:solidFill>
                <a:latin typeface="Montserrat Bold"/>
                <a:ea typeface="Montserrat Bold"/>
                <a:cs typeface="Montserrat Bold"/>
                <a:sym typeface="Montserrat Bold"/>
              </a:rPr>
              <a:t>Sau đó, lấy tọa độ các điểm đặc trưng của mặt:</a:t>
            </a:r>
          </a:p>
          <a:p>
            <a:pPr algn="l" marL="777234" indent="-388617" lvl="1">
              <a:lnSpc>
                <a:spcPts val="5723"/>
              </a:lnSpc>
              <a:buFont typeface="Arial"/>
              <a:buChar char="•"/>
            </a:pPr>
            <a:r>
              <a:rPr lang="en-US" b="true" sz="3599">
                <a:solidFill>
                  <a:srgbClr val="0D3B8A"/>
                </a:solidFill>
                <a:latin typeface="Montserrat Bold"/>
                <a:ea typeface="Montserrat Bold"/>
                <a:cs typeface="Montserrat Bold"/>
                <a:sym typeface="Montserrat Bold"/>
              </a:rPr>
              <a:t>Khóe mắt trái/phải</a:t>
            </a:r>
          </a:p>
          <a:p>
            <a:pPr algn="l" marL="777234" indent="-388617" lvl="1">
              <a:lnSpc>
                <a:spcPts val="5723"/>
              </a:lnSpc>
              <a:buFont typeface="Arial"/>
              <a:buChar char="•"/>
            </a:pPr>
            <a:r>
              <a:rPr lang="en-US" b="true" sz="3599">
                <a:solidFill>
                  <a:srgbClr val="0D3B8A"/>
                </a:solidFill>
                <a:latin typeface="Montserrat Bold"/>
                <a:ea typeface="Montserrat Bold"/>
                <a:cs typeface="Montserrat Bold"/>
                <a:sym typeface="Montserrat Bold"/>
              </a:rPr>
              <a:t>Lông mày</a:t>
            </a:r>
          </a:p>
          <a:p>
            <a:pPr algn="l" marL="777234" indent="-388617" lvl="1">
              <a:lnSpc>
                <a:spcPts val="5723"/>
              </a:lnSpc>
              <a:buFont typeface="Arial"/>
              <a:buChar char="•"/>
            </a:pPr>
            <a:r>
              <a:rPr lang="en-US" b="true" sz="3599">
                <a:solidFill>
                  <a:srgbClr val="0D3B8A"/>
                </a:solidFill>
                <a:latin typeface="Montserrat Bold"/>
                <a:ea typeface="Montserrat Bold"/>
                <a:cs typeface="Montserrat Bold"/>
                <a:sym typeface="Montserrat Bold"/>
              </a:rPr>
              <a:t>Khóe miệng trái, phải</a:t>
            </a:r>
          </a:p>
          <a:p>
            <a:pPr algn="l">
              <a:lnSpc>
                <a:spcPts val="5723"/>
              </a:lnSpc>
              <a:spcBef>
                <a:spcPct val="0"/>
              </a:spcBef>
            </a:pPr>
          </a:p>
        </p:txBody>
      </p:sp>
      <p:sp>
        <p:nvSpPr>
          <p:cNvPr name="TextBox 4" id="4"/>
          <p:cNvSpPr txBox="true"/>
          <p:nvPr/>
        </p:nvSpPr>
        <p:spPr>
          <a:xfrm rot="0">
            <a:off x="489575" y="557218"/>
            <a:ext cx="17521847" cy="1526339"/>
          </a:xfrm>
          <a:prstGeom prst="rect">
            <a:avLst/>
          </a:prstGeom>
        </p:spPr>
        <p:txBody>
          <a:bodyPr anchor="t" rtlCol="false" tIns="0" lIns="0" bIns="0" rIns="0">
            <a:spAutoFit/>
          </a:bodyPr>
          <a:lstStyle/>
          <a:p>
            <a:pPr algn="l">
              <a:lnSpc>
                <a:spcPts val="6521"/>
              </a:lnSpc>
            </a:pPr>
            <a:r>
              <a:rPr lang="en-US" b="true" sz="4657" spc="228">
                <a:solidFill>
                  <a:srgbClr val="0D3B8A"/>
                </a:solidFill>
                <a:latin typeface="Montserrat Ultra-Bold"/>
                <a:ea typeface="Montserrat Ultra-Bold"/>
                <a:cs typeface="Montserrat Ultra-Bold"/>
                <a:sym typeface="Montserrat Ultra-Bold"/>
              </a:rPr>
              <a:t>THIẾT KẾ CHỨC NĂNG </a:t>
            </a:r>
          </a:p>
          <a:p>
            <a:pPr algn="l">
              <a:lnSpc>
                <a:spcPts val="5821"/>
              </a:lnSpc>
              <a:spcBef>
                <a:spcPct val="0"/>
              </a:spcBef>
            </a:pPr>
            <a:r>
              <a:rPr lang="en-US" b="true" sz="4157" spc="203">
                <a:solidFill>
                  <a:srgbClr val="0D3B8A"/>
                </a:solidFill>
                <a:latin typeface="Montserrat Ultra-Bold"/>
                <a:ea typeface="Montserrat Ultra-Bold"/>
                <a:cs typeface="Montserrat Ultra-Bold"/>
                <a:sym typeface="Montserrat Ultra-Bold"/>
              </a:rPr>
              <a:t>GỢI Ý THEO TÂM TRẠNG VÀ CẢNH BÁO NGUY HIỂM</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6565137" y="2706380"/>
            <a:ext cx="4230374" cy="6551920"/>
          </a:xfrm>
          <a:prstGeom prst="rect">
            <a:avLst/>
          </a:prstGeom>
        </p:spPr>
      </p:pic>
      <p:sp>
        <p:nvSpPr>
          <p:cNvPr name="TextBox 3" id="3"/>
          <p:cNvSpPr txBox="true"/>
          <p:nvPr/>
        </p:nvSpPr>
        <p:spPr>
          <a:xfrm rot="0">
            <a:off x="489575" y="2528301"/>
            <a:ext cx="5851878" cy="7316796"/>
          </a:xfrm>
          <a:prstGeom prst="rect">
            <a:avLst/>
          </a:prstGeom>
        </p:spPr>
        <p:txBody>
          <a:bodyPr anchor="t" rtlCol="false" tIns="0" lIns="0" bIns="0" rIns="0">
            <a:spAutoFit/>
          </a:bodyPr>
          <a:lstStyle/>
          <a:p>
            <a:pPr algn="l">
              <a:lnSpc>
                <a:spcPts val="3929"/>
              </a:lnSpc>
            </a:pPr>
            <a:r>
              <a:rPr lang="en-US" sz="2471" b="true">
                <a:solidFill>
                  <a:srgbClr val="0D3B8A"/>
                </a:solidFill>
                <a:latin typeface="Montserrat Bold"/>
                <a:ea typeface="Montserrat Bold"/>
                <a:cs typeface="Montserrat Bold"/>
                <a:sym typeface="Montserrat Bold"/>
              </a:rPr>
              <a:t>Sau khi có tọa độ các đặc trưng, ta có thể suy luận ra cảm xúc dựa trên tính toán vị trí các điểm với nhau</a:t>
            </a:r>
          </a:p>
          <a:p>
            <a:pPr algn="l" marL="533534" indent="-266767" lvl="1">
              <a:lnSpc>
                <a:spcPts val="3929"/>
              </a:lnSpc>
              <a:buFont typeface="Arial"/>
              <a:buChar char="•"/>
            </a:pPr>
            <a:r>
              <a:rPr lang="en-US" b="true" sz="2471">
                <a:solidFill>
                  <a:srgbClr val="0D3B8A"/>
                </a:solidFill>
                <a:latin typeface="Montserrat Bold"/>
                <a:ea typeface="Montserrat Bold"/>
                <a:cs typeface="Montserrat Bold"/>
                <a:sym typeface="Montserrat Bold"/>
              </a:rPr>
              <a:t>Sad (Buồn): </a:t>
            </a:r>
          </a:p>
          <a:p>
            <a:pPr algn="l" marL="1067068" indent="-355689" lvl="2">
              <a:lnSpc>
                <a:spcPts val="3929"/>
              </a:lnSpc>
              <a:buFont typeface="Arial"/>
              <a:buChar char="⚬"/>
            </a:pPr>
            <a:r>
              <a:rPr lang="en-US" sz="2471">
                <a:solidFill>
                  <a:srgbClr val="0D3B8A"/>
                </a:solidFill>
                <a:latin typeface="Montserrat"/>
                <a:ea typeface="Montserrat"/>
                <a:cs typeface="Montserrat"/>
                <a:sym typeface="Montserrat"/>
              </a:rPr>
              <a:t>M</a:t>
            </a:r>
            <a:r>
              <a:rPr lang="en-US" sz="2471">
                <a:solidFill>
                  <a:srgbClr val="0D3B8A"/>
                </a:solidFill>
                <a:latin typeface="Montserrat"/>
                <a:ea typeface="Montserrat"/>
                <a:cs typeface="Montserrat"/>
                <a:sym typeface="Montserrat"/>
              </a:rPr>
              <a:t>iệng cong xuống</a:t>
            </a:r>
          </a:p>
          <a:p>
            <a:pPr algn="l" marL="1067068" indent="-355689" lvl="2">
              <a:lnSpc>
                <a:spcPts val="3929"/>
              </a:lnSpc>
              <a:buFont typeface="Arial"/>
              <a:buChar char="⚬"/>
            </a:pPr>
            <a:r>
              <a:rPr lang="en-US" sz="2471">
                <a:solidFill>
                  <a:srgbClr val="0D3B8A"/>
                </a:solidFill>
                <a:latin typeface="Montserrat"/>
                <a:ea typeface="Montserrat"/>
                <a:cs typeface="Montserrat"/>
                <a:sym typeface="Montserrat"/>
              </a:rPr>
              <a:t>Lông mày sát nhau</a:t>
            </a:r>
          </a:p>
          <a:p>
            <a:pPr algn="l" marL="1067068" indent="-355689" lvl="2">
              <a:lnSpc>
                <a:spcPts val="3929"/>
              </a:lnSpc>
              <a:buFont typeface="Arial"/>
              <a:buChar char="⚬"/>
            </a:pPr>
            <a:r>
              <a:rPr lang="en-US" sz="2471">
                <a:solidFill>
                  <a:srgbClr val="0D3B8A"/>
                </a:solidFill>
                <a:latin typeface="Montserrat"/>
                <a:ea typeface="Montserrat"/>
                <a:cs typeface="Montserrat"/>
                <a:sym typeface="Montserrat"/>
              </a:rPr>
              <a:t>Mắt híp</a:t>
            </a:r>
          </a:p>
          <a:p>
            <a:pPr algn="l" marL="533534" indent="-266767" lvl="1">
              <a:lnSpc>
                <a:spcPts val="3929"/>
              </a:lnSpc>
              <a:buFont typeface="Arial"/>
              <a:buChar char="•"/>
            </a:pPr>
            <a:r>
              <a:rPr lang="en-US" b="true" sz="2471">
                <a:solidFill>
                  <a:srgbClr val="0D3B8A"/>
                </a:solidFill>
                <a:latin typeface="Montserrat Bold"/>
                <a:ea typeface="Montserrat Bold"/>
                <a:cs typeface="Montserrat Bold"/>
                <a:sym typeface="Montserrat Bold"/>
              </a:rPr>
              <a:t>Happy (Vui): </a:t>
            </a:r>
          </a:p>
          <a:p>
            <a:pPr algn="l" marL="1067068" indent="-355689" lvl="2">
              <a:lnSpc>
                <a:spcPts val="3929"/>
              </a:lnSpc>
              <a:buFont typeface="Arial"/>
              <a:buChar char="⚬"/>
            </a:pPr>
            <a:r>
              <a:rPr lang="en-US" sz="2471">
                <a:solidFill>
                  <a:srgbClr val="0D3B8A"/>
                </a:solidFill>
                <a:latin typeface="Montserrat"/>
                <a:ea typeface="Montserrat"/>
                <a:cs typeface="Montserrat"/>
                <a:sym typeface="Montserrat"/>
              </a:rPr>
              <a:t>Nụ cười rõ</a:t>
            </a:r>
          </a:p>
          <a:p>
            <a:pPr algn="l" marL="1067068" indent="-355689" lvl="2">
              <a:lnSpc>
                <a:spcPts val="3929"/>
              </a:lnSpc>
              <a:buFont typeface="Arial"/>
              <a:buChar char="⚬"/>
            </a:pPr>
            <a:r>
              <a:rPr lang="en-US" sz="2471">
                <a:solidFill>
                  <a:srgbClr val="0D3B8A"/>
                </a:solidFill>
                <a:latin typeface="Montserrat"/>
                <a:ea typeface="Montserrat"/>
                <a:cs typeface="Montserrat"/>
                <a:sym typeface="Montserrat"/>
              </a:rPr>
              <a:t>Miệng đủ rộng</a:t>
            </a:r>
          </a:p>
          <a:p>
            <a:pPr algn="l" marL="533534" indent="-266767" lvl="1">
              <a:lnSpc>
                <a:spcPts val="3929"/>
              </a:lnSpc>
              <a:buFont typeface="Arial"/>
              <a:buChar char="•"/>
            </a:pPr>
            <a:r>
              <a:rPr lang="en-US" b="true" sz="2471">
                <a:solidFill>
                  <a:srgbClr val="0D3B8A"/>
                </a:solidFill>
                <a:latin typeface="Montserrat Bold"/>
                <a:ea typeface="Montserrat Bold"/>
                <a:cs typeface="Montserrat Bold"/>
                <a:sym typeface="Montserrat Bold"/>
              </a:rPr>
              <a:t>Calm (Bình tĩnh):</a:t>
            </a:r>
          </a:p>
          <a:p>
            <a:pPr algn="l" marL="1067068" indent="-355689" lvl="2">
              <a:lnSpc>
                <a:spcPts val="3929"/>
              </a:lnSpc>
              <a:buFont typeface="Arial"/>
              <a:buChar char="⚬"/>
            </a:pPr>
            <a:r>
              <a:rPr lang="en-US" sz="2471">
                <a:solidFill>
                  <a:srgbClr val="0D3B8A"/>
                </a:solidFill>
                <a:latin typeface="Montserrat"/>
                <a:ea typeface="Montserrat"/>
                <a:cs typeface="Montserrat"/>
                <a:sym typeface="Montserrat"/>
              </a:rPr>
              <a:t>Mắt mở vừa phải</a:t>
            </a:r>
          </a:p>
          <a:p>
            <a:pPr algn="l" marL="1067068" indent="-355689" lvl="2">
              <a:lnSpc>
                <a:spcPts val="3929"/>
              </a:lnSpc>
              <a:buFont typeface="Arial"/>
              <a:buChar char="⚬"/>
            </a:pPr>
            <a:r>
              <a:rPr lang="en-US" sz="2471">
                <a:solidFill>
                  <a:srgbClr val="0D3B8A"/>
                </a:solidFill>
                <a:latin typeface="Montserrat"/>
                <a:ea typeface="Montserrat"/>
                <a:cs typeface="Montserrat"/>
                <a:sym typeface="Montserrat"/>
              </a:rPr>
              <a:t>Miệng trung tính</a:t>
            </a:r>
          </a:p>
          <a:p>
            <a:pPr algn="l" marL="1067068" indent="-355689" lvl="2">
              <a:lnSpc>
                <a:spcPts val="3929"/>
              </a:lnSpc>
              <a:buFont typeface="Arial"/>
              <a:buChar char="⚬"/>
            </a:pPr>
            <a:r>
              <a:rPr lang="en-US" sz="2471">
                <a:solidFill>
                  <a:srgbClr val="0D3B8A"/>
                </a:solidFill>
                <a:latin typeface="Montserrat"/>
                <a:ea typeface="Montserrat"/>
                <a:cs typeface="Montserrat"/>
                <a:sym typeface="Montserrat"/>
              </a:rPr>
              <a:t>Lông mày không sát nhau </a:t>
            </a:r>
          </a:p>
        </p:txBody>
      </p:sp>
      <p:sp>
        <p:nvSpPr>
          <p:cNvPr name="TextBox 4" id="4"/>
          <p:cNvSpPr txBox="true"/>
          <p:nvPr/>
        </p:nvSpPr>
        <p:spPr>
          <a:xfrm rot="0">
            <a:off x="11014586" y="3450973"/>
            <a:ext cx="6469508" cy="3928237"/>
          </a:xfrm>
          <a:prstGeom prst="rect">
            <a:avLst/>
          </a:prstGeom>
        </p:spPr>
        <p:txBody>
          <a:bodyPr anchor="t" rtlCol="false" tIns="0" lIns="0" bIns="0" rIns="0">
            <a:spAutoFit/>
          </a:bodyPr>
          <a:lstStyle/>
          <a:p>
            <a:pPr algn="l" marL="533272" indent="-266636" lvl="1">
              <a:lnSpc>
                <a:spcPts val="3457"/>
              </a:lnSpc>
              <a:buFont typeface="Arial"/>
              <a:buChar char="•"/>
            </a:pPr>
            <a:r>
              <a:rPr lang="en-US" b="true" sz="2469" spc="121">
                <a:solidFill>
                  <a:srgbClr val="0D3B8A"/>
                </a:solidFill>
                <a:latin typeface="Montserrat Bold"/>
                <a:ea typeface="Montserrat Bold"/>
                <a:cs typeface="Montserrat Bold"/>
                <a:sym typeface="Montserrat Bold"/>
              </a:rPr>
              <a:t>Sad (Buồn): </a:t>
            </a:r>
          </a:p>
          <a:p>
            <a:pPr algn="l" marL="1066545" indent="-355515" lvl="2">
              <a:lnSpc>
                <a:spcPts val="3457"/>
              </a:lnSpc>
              <a:buFont typeface="Arial"/>
              <a:buChar char="⚬"/>
            </a:pPr>
            <a:r>
              <a:rPr lang="en-US" sz="2469" spc="121">
                <a:solidFill>
                  <a:srgbClr val="0D3B8A"/>
                </a:solidFill>
                <a:latin typeface="Montserrat"/>
                <a:ea typeface="Montserrat"/>
                <a:cs typeface="Montserrat"/>
                <a:sym typeface="Montserrat"/>
              </a:rPr>
              <a:t>Tọa độ 2 khóe miệng thấp hơn điểm trung bình của miệng </a:t>
            </a:r>
          </a:p>
          <a:p>
            <a:pPr algn="l" marL="533272" indent="-266636" lvl="1">
              <a:lnSpc>
                <a:spcPts val="3457"/>
              </a:lnSpc>
              <a:buFont typeface="Arial"/>
              <a:buChar char="•"/>
            </a:pPr>
            <a:r>
              <a:rPr lang="en-US" b="true" sz="2469" spc="121">
                <a:solidFill>
                  <a:srgbClr val="0D3B8A"/>
                </a:solidFill>
                <a:latin typeface="Montserrat Bold"/>
                <a:ea typeface="Montserrat Bold"/>
                <a:cs typeface="Montserrat Bold"/>
                <a:sym typeface="Montserrat Bold"/>
              </a:rPr>
              <a:t>Happy (Vui): </a:t>
            </a:r>
          </a:p>
          <a:p>
            <a:pPr algn="l" marL="1066545" indent="-355515" lvl="2">
              <a:lnSpc>
                <a:spcPts val="3457"/>
              </a:lnSpc>
              <a:buFont typeface="Arial"/>
              <a:buChar char="⚬"/>
            </a:pPr>
            <a:r>
              <a:rPr lang="en-US" sz="2469" spc="121">
                <a:solidFill>
                  <a:srgbClr val="0D3B8A"/>
                </a:solidFill>
                <a:latin typeface="Montserrat"/>
                <a:ea typeface="Montserrat"/>
                <a:cs typeface="Montserrat"/>
                <a:sym typeface="Montserrat"/>
              </a:rPr>
              <a:t>Tọa độ 2 khóe miệng cao hơn điểm trung bình của miệng</a:t>
            </a:r>
          </a:p>
          <a:p>
            <a:pPr algn="l" marL="533272" indent="-266636" lvl="1">
              <a:lnSpc>
                <a:spcPts val="3457"/>
              </a:lnSpc>
              <a:buFont typeface="Arial"/>
              <a:buChar char="•"/>
            </a:pPr>
            <a:r>
              <a:rPr lang="en-US" b="true" sz="2469" spc="121">
                <a:solidFill>
                  <a:srgbClr val="0D3B8A"/>
                </a:solidFill>
                <a:latin typeface="Montserrat Bold"/>
                <a:ea typeface="Montserrat Bold"/>
                <a:cs typeface="Montserrat Bold"/>
                <a:sym typeface="Montserrat Bold"/>
              </a:rPr>
              <a:t>Sleepy (Buồn ngủ)</a:t>
            </a:r>
          </a:p>
          <a:p>
            <a:pPr algn="l" marL="1066545" indent="-355515" lvl="2">
              <a:lnSpc>
                <a:spcPts val="3457"/>
              </a:lnSpc>
              <a:spcBef>
                <a:spcPct val="0"/>
              </a:spcBef>
              <a:buFont typeface="Arial"/>
              <a:buChar char="⚬"/>
            </a:pPr>
            <a:r>
              <a:rPr lang="en-US" sz="2469" spc="121">
                <a:solidFill>
                  <a:srgbClr val="0D3B8A"/>
                </a:solidFill>
                <a:latin typeface="Montserrat"/>
                <a:ea typeface="Montserrat"/>
                <a:cs typeface="Montserrat"/>
                <a:sym typeface="Montserrat"/>
              </a:rPr>
              <a:t>Độ mở của miệng lớn, mắt nhắm</a:t>
            </a:r>
          </a:p>
        </p:txBody>
      </p:sp>
      <p:sp>
        <p:nvSpPr>
          <p:cNvPr name="TextBox 5" id="5"/>
          <p:cNvSpPr txBox="true"/>
          <p:nvPr/>
        </p:nvSpPr>
        <p:spPr>
          <a:xfrm rot="0">
            <a:off x="489575" y="557218"/>
            <a:ext cx="17521847" cy="1526339"/>
          </a:xfrm>
          <a:prstGeom prst="rect">
            <a:avLst/>
          </a:prstGeom>
        </p:spPr>
        <p:txBody>
          <a:bodyPr anchor="t" rtlCol="false" tIns="0" lIns="0" bIns="0" rIns="0">
            <a:spAutoFit/>
          </a:bodyPr>
          <a:lstStyle/>
          <a:p>
            <a:pPr algn="l">
              <a:lnSpc>
                <a:spcPts val="6521"/>
              </a:lnSpc>
            </a:pPr>
            <a:r>
              <a:rPr lang="en-US" b="true" sz="4657" spc="228">
                <a:solidFill>
                  <a:srgbClr val="0D3B8A"/>
                </a:solidFill>
                <a:latin typeface="Montserrat Ultra-Bold"/>
                <a:ea typeface="Montserrat Ultra-Bold"/>
                <a:cs typeface="Montserrat Ultra-Bold"/>
                <a:sym typeface="Montserrat Ultra-Bold"/>
              </a:rPr>
              <a:t>THIẾT KẾ CHỨC NĂNG </a:t>
            </a:r>
          </a:p>
          <a:p>
            <a:pPr algn="l">
              <a:lnSpc>
                <a:spcPts val="5821"/>
              </a:lnSpc>
              <a:spcBef>
                <a:spcPct val="0"/>
              </a:spcBef>
            </a:pPr>
            <a:r>
              <a:rPr lang="en-US" b="true" sz="4157" spc="203">
                <a:solidFill>
                  <a:srgbClr val="0D3B8A"/>
                </a:solidFill>
                <a:latin typeface="Montserrat Ultra-Bold"/>
                <a:ea typeface="Montserrat Ultra-Bold"/>
                <a:cs typeface="Montserrat Ultra-Bold"/>
                <a:sym typeface="Montserrat Ultra-Bold"/>
              </a:rPr>
              <a:t>GỢI Ý THEO TÂM TRẠNG VÀ CẢNH BÁO NGUY HIỂM</a:t>
            </a:r>
          </a:p>
        </p:txBody>
      </p:sp>
    </p:spTree>
  </p:cSld>
  <p:clrMapOvr>
    <a:masterClrMapping/>
  </p:clrMapOvr>
  <p:timing>
    <p:tnLst>
      <p:par>
        <p:cTn dur="indefinite" restart="never" nodeType="tmRoot">
          <p:childTnLst>
            <p:video>
              <p:cMediaNode vol="0">
                <p:cTn fill="hold" display="false">
                  <p:stCondLst>
                    <p:cond delay="indefinite"/>
                  </p:stCondLst>
                </p:cTn>
                <p:tgtEl>
                  <p:spTgt spid="2"/>
                </p:tgtEl>
              </p:cMediaNode>
            </p:video>
          </p:childTnLst>
        </p:cTn>
      </p:par>
    </p:tnLst>
  </p:timing>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10394951" y="2347474"/>
            <a:ext cx="6347967" cy="7502983"/>
          </a:xfrm>
          <a:prstGeom prst="rect">
            <a:avLst/>
          </a:prstGeom>
        </p:spPr>
      </p:pic>
      <p:sp>
        <p:nvSpPr>
          <p:cNvPr name="TextBox 3" id="3"/>
          <p:cNvSpPr txBox="true"/>
          <p:nvPr/>
        </p:nvSpPr>
        <p:spPr>
          <a:xfrm rot="0">
            <a:off x="1028700" y="2684039"/>
            <a:ext cx="7020352" cy="6792087"/>
          </a:xfrm>
          <a:prstGeom prst="rect">
            <a:avLst/>
          </a:prstGeom>
        </p:spPr>
        <p:txBody>
          <a:bodyPr anchor="t" rtlCol="false" tIns="0" lIns="0" bIns="0" rIns="0">
            <a:spAutoFit/>
          </a:bodyPr>
          <a:lstStyle/>
          <a:p>
            <a:pPr algn="l" marL="641220" indent="-320610" lvl="1">
              <a:lnSpc>
                <a:spcPts val="4157"/>
              </a:lnSpc>
              <a:buFont typeface="Arial"/>
              <a:buChar char="•"/>
            </a:pPr>
            <a:r>
              <a:rPr lang="en-US" sz="2969" spc="145">
                <a:solidFill>
                  <a:srgbClr val="0D3B8A"/>
                </a:solidFill>
                <a:latin typeface="Montserrat"/>
                <a:ea typeface="Montserrat"/>
                <a:cs typeface="Montserrat"/>
                <a:sym typeface="Montserrat"/>
              </a:rPr>
              <a:t>Sau khi thực hiện tính toán, đầu ra là trạng thái cảm xúc người dùng</a:t>
            </a:r>
          </a:p>
          <a:p>
            <a:pPr algn="l">
              <a:lnSpc>
                <a:spcPts val="4157"/>
              </a:lnSpc>
            </a:pPr>
          </a:p>
          <a:p>
            <a:pPr algn="l" marL="641220" indent="-320610" lvl="1">
              <a:lnSpc>
                <a:spcPts val="4157"/>
              </a:lnSpc>
              <a:buFont typeface="Arial"/>
              <a:buChar char="•"/>
            </a:pPr>
            <a:r>
              <a:rPr lang="en-US" sz="2969" spc="145">
                <a:solidFill>
                  <a:srgbClr val="0D3B8A"/>
                </a:solidFill>
                <a:latin typeface="Montserrat"/>
                <a:ea typeface="Montserrat"/>
                <a:cs typeface="Montserrat"/>
                <a:sym typeface="Montserrat"/>
              </a:rPr>
              <a:t>Màn hính chính sẽ hiển thị các trạng thái về tâm trạng và các cảnh báo nếu phát hiện dấu hiệu buồn ngủ</a:t>
            </a:r>
          </a:p>
          <a:p>
            <a:pPr algn="l">
              <a:lnSpc>
                <a:spcPts val="4157"/>
              </a:lnSpc>
            </a:pPr>
          </a:p>
          <a:p>
            <a:pPr algn="l" marL="641220" indent="-320610" lvl="1">
              <a:lnSpc>
                <a:spcPts val="4157"/>
              </a:lnSpc>
              <a:buFont typeface="Arial"/>
              <a:buChar char="•"/>
            </a:pPr>
            <a:r>
              <a:rPr lang="en-US" sz="2969" spc="145">
                <a:solidFill>
                  <a:srgbClr val="0D3B8A"/>
                </a:solidFill>
                <a:latin typeface="Montserrat"/>
                <a:ea typeface="Montserrat"/>
                <a:cs typeface="Montserrat"/>
                <a:sym typeface="Montserrat"/>
              </a:rPr>
              <a:t>Nếu dấu hiệu buồn ngủ tiếp diễn quá 5 giây thì màn hình sẽ ngừng nhạc, phát cảnh báo để cảnh cáo người dùng</a:t>
            </a:r>
          </a:p>
        </p:txBody>
      </p:sp>
      <p:sp>
        <p:nvSpPr>
          <p:cNvPr name="TextBox 4" id="4"/>
          <p:cNvSpPr txBox="true"/>
          <p:nvPr/>
        </p:nvSpPr>
        <p:spPr>
          <a:xfrm rot="0">
            <a:off x="489575" y="557218"/>
            <a:ext cx="17521847" cy="1526339"/>
          </a:xfrm>
          <a:prstGeom prst="rect">
            <a:avLst/>
          </a:prstGeom>
        </p:spPr>
        <p:txBody>
          <a:bodyPr anchor="t" rtlCol="false" tIns="0" lIns="0" bIns="0" rIns="0">
            <a:spAutoFit/>
          </a:bodyPr>
          <a:lstStyle/>
          <a:p>
            <a:pPr algn="l">
              <a:lnSpc>
                <a:spcPts val="6521"/>
              </a:lnSpc>
            </a:pPr>
            <a:r>
              <a:rPr lang="en-US" b="true" sz="4657" spc="228">
                <a:solidFill>
                  <a:srgbClr val="0D3B8A"/>
                </a:solidFill>
                <a:latin typeface="Montserrat Ultra-Bold"/>
                <a:ea typeface="Montserrat Ultra-Bold"/>
                <a:cs typeface="Montserrat Ultra-Bold"/>
                <a:sym typeface="Montserrat Ultra-Bold"/>
              </a:rPr>
              <a:t>THIẾT KẾ CHỨC NĂNG </a:t>
            </a:r>
          </a:p>
          <a:p>
            <a:pPr algn="l">
              <a:lnSpc>
                <a:spcPts val="5821"/>
              </a:lnSpc>
              <a:spcBef>
                <a:spcPct val="0"/>
              </a:spcBef>
            </a:pPr>
            <a:r>
              <a:rPr lang="en-US" b="true" sz="4157" spc="203">
                <a:solidFill>
                  <a:srgbClr val="0D3B8A"/>
                </a:solidFill>
                <a:latin typeface="Montserrat Ultra-Bold"/>
                <a:ea typeface="Montserrat Ultra-Bold"/>
                <a:cs typeface="Montserrat Ultra-Bold"/>
                <a:sym typeface="Montserrat Ultra-Bold"/>
              </a:rPr>
              <a:t>GỢI Ý THEO TÂM TRẠNG VÀ CẢNH BÁO NGUY HIỂM</a:t>
            </a:r>
          </a:p>
        </p:txBody>
      </p:sp>
    </p:spTree>
  </p:cSld>
  <p:clrMapOvr>
    <a:masterClrMapping/>
  </p:clrMapOvr>
  <p:timing>
    <p:tnLst>
      <p:par>
        <p:cTn dur="indefinite" restart="never" nodeType="tmRoot">
          <p:childTnLst>
            <p:video>
              <p:cMediaNode vol="0">
                <p:cTn fill="hold" display="false">
                  <p:stCondLst>
                    <p:cond delay="indefinite"/>
                  </p:stCondLst>
                </p:cTn>
                <p:tgtEl>
                  <p:spTgt spid="2"/>
                </p:tgtEl>
              </p:cMediaNode>
            </p:video>
          </p:childTnLst>
        </p:cTn>
      </p:par>
    </p:tnLst>
  </p:timing>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5068162" y="4384664"/>
            <a:ext cx="7958882" cy="758836"/>
          </a:xfrm>
          <a:prstGeom prst="rect">
            <a:avLst/>
          </a:prstGeom>
        </p:spPr>
        <p:txBody>
          <a:bodyPr anchor="t" rtlCol="false" tIns="0" lIns="0" bIns="0" rIns="0">
            <a:spAutoFit/>
          </a:bodyPr>
          <a:lstStyle/>
          <a:p>
            <a:pPr algn="ctr">
              <a:lnSpc>
                <a:spcPts val="6094"/>
              </a:lnSpc>
            </a:pPr>
            <a:r>
              <a:rPr lang="en-US" b="true" sz="4995" spc="244">
                <a:solidFill>
                  <a:srgbClr val="0D3B8A"/>
                </a:solidFill>
                <a:latin typeface="Montserrat Bold"/>
                <a:ea typeface="Montserrat Bold"/>
                <a:cs typeface="Montserrat Bold"/>
                <a:sym typeface="Montserrat Bold"/>
              </a:rPr>
              <a:t>CÀI ĐẶT VÀ KIỂM THỬ</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sp>
        <p:nvSpPr>
          <p:cNvPr name="Freeform 6" id="6"/>
          <p:cNvSpPr/>
          <p:nvPr/>
        </p:nvSpPr>
        <p:spPr>
          <a:xfrm flipH="false" flipV="false" rot="0">
            <a:off x="10426258" y="3952519"/>
            <a:ext cx="2537388" cy="2900247"/>
          </a:xfrm>
          <a:custGeom>
            <a:avLst/>
            <a:gdLst/>
            <a:ahLst/>
            <a:cxnLst/>
            <a:rect r="r" b="b" t="t" l="l"/>
            <a:pathLst>
              <a:path h="2900247" w="2537388">
                <a:moveTo>
                  <a:pt x="0" y="0"/>
                </a:moveTo>
                <a:lnTo>
                  <a:pt x="2537388" y="0"/>
                </a:lnTo>
                <a:lnTo>
                  <a:pt x="2537388" y="2900247"/>
                </a:lnTo>
                <a:lnTo>
                  <a:pt x="0" y="2900247"/>
                </a:lnTo>
                <a:lnTo>
                  <a:pt x="0" y="0"/>
                </a:lnTo>
                <a:close/>
              </a:path>
            </a:pathLst>
          </a:custGeom>
          <a:blipFill>
            <a:blip r:embed="rId4"/>
            <a:stretch>
              <a:fillRect l="-64300" t="0" r="-64300" b="0"/>
            </a:stretch>
          </a:blipFill>
        </p:spPr>
      </p:sp>
      <p:sp>
        <p:nvSpPr>
          <p:cNvPr name="Freeform 7" id="7"/>
          <p:cNvSpPr/>
          <p:nvPr/>
        </p:nvSpPr>
        <p:spPr>
          <a:xfrm flipH="false" flipV="false" rot="0">
            <a:off x="13219557" y="4111313"/>
            <a:ext cx="3017643" cy="2606154"/>
          </a:xfrm>
          <a:custGeom>
            <a:avLst/>
            <a:gdLst/>
            <a:ahLst/>
            <a:cxnLst/>
            <a:rect r="r" b="b" t="t" l="l"/>
            <a:pathLst>
              <a:path h="2606154" w="3017643">
                <a:moveTo>
                  <a:pt x="0" y="0"/>
                </a:moveTo>
                <a:lnTo>
                  <a:pt x="3017643" y="0"/>
                </a:lnTo>
                <a:lnTo>
                  <a:pt x="3017643" y="2606154"/>
                </a:lnTo>
                <a:lnTo>
                  <a:pt x="0" y="2606154"/>
                </a:lnTo>
                <a:lnTo>
                  <a:pt x="0" y="0"/>
                </a:lnTo>
                <a:close/>
              </a:path>
            </a:pathLst>
          </a:custGeom>
          <a:blipFill>
            <a:blip r:embed="rId5"/>
            <a:stretch>
              <a:fillRect l="0" t="0" r="-3133" b="0"/>
            </a:stretch>
          </a:blipFill>
        </p:spPr>
      </p:sp>
      <p:sp>
        <p:nvSpPr>
          <p:cNvPr name="Freeform 8" id="8"/>
          <p:cNvSpPr/>
          <p:nvPr/>
        </p:nvSpPr>
        <p:spPr>
          <a:xfrm flipH="false" flipV="false" rot="0">
            <a:off x="10416725" y="7250722"/>
            <a:ext cx="2370024" cy="2556554"/>
          </a:xfrm>
          <a:custGeom>
            <a:avLst/>
            <a:gdLst/>
            <a:ahLst/>
            <a:cxnLst/>
            <a:rect r="r" b="b" t="t" l="l"/>
            <a:pathLst>
              <a:path h="2556554" w="2370024">
                <a:moveTo>
                  <a:pt x="0" y="0"/>
                </a:moveTo>
                <a:lnTo>
                  <a:pt x="2370024" y="0"/>
                </a:lnTo>
                <a:lnTo>
                  <a:pt x="2370024" y="2556553"/>
                </a:lnTo>
                <a:lnTo>
                  <a:pt x="0" y="2556553"/>
                </a:lnTo>
                <a:lnTo>
                  <a:pt x="0" y="0"/>
                </a:lnTo>
                <a:close/>
              </a:path>
            </a:pathLst>
          </a:custGeom>
          <a:blipFill>
            <a:blip r:embed="rId6"/>
            <a:stretch>
              <a:fillRect l="0" t="0" r="0" b="0"/>
            </a:stretch>
          </a:blipFill>
        </p:spPr>
      </p:sp>
      <p:sp>
        <p:nvSpPr>
          <p:cNvPr name="Freeform 9" id="9"/>
          <p:cNvSpPr/>
          <p:nvPr/>
        </p:nvSpPr>
        <p:spPr>
          <a:xfrm flipH="false" flipV="false" rot="0">
            <a:off x="13377299" y="7093515"/>
            <a:ext cx="2557332" cy="2557332"/>
          </a:xfrm>
          <a:custGeom>
            <a:avLst/>
            <a:gdLst/>
            <a:ahLst/>
            <a:cxnLst/>
            <a:rect r="r" b="b" t="t" l="l"/>
            <a:pathLst>
              <a:path h="2557332" w="2557332">
                <a:moveTo>
                  <a:pt x="0" y="0"/>
                </a:moveTo>
                <a:lnTo>
                  <a:pt x="2557332" y="0"/>
                </a:lnTo>
                <a:lnTo>
                  <a:pt x="2557332" y="2557331"/>
                </a:lnTo>
                <a:lnTo>
                  <a:pt x="0" y="2557331"/>
                </a:lnTo>
                <a:lnTo>
                  <a:pt x="0" y="0"/>
                </a:lnTo>
                <a:close/>
              </a:path>
            </a:pathLst>
          </a:custGeom>
          <a:blipFill>
            <a:blip r:embed="rId7"/>
            <a:stretch>
              <a:fillRect l="0" t="0" r="0" b="0"/>
            </a:stretch>
          </a:blipFill>
        </p:spPr>
      </p:sp>
      <p:sp>
        <p:nvSpPr>
          <p:cNvPr name="TextBox 10" id="10"/>
          <p:cNvSpPr txBox="true"/>
          <p:nvPr/>
        </p:nvSpPr>
        <p:spPr>
          <a:xfrm rot="0">
            <a:off x="542312" y="1246843"/>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MÔI TRƯỜNG CÀI ĐẶT</a:t>
            </a:r>
          </a:p>
        </p:txBody>
      </p:sp>
      <p:sp>
        <p:nvSpPr>
          <p:cNvPr name="TextBox 11" id="11"/>
          <p:cNvSpPr txBox="true"/>
          <p:nvPr/>
        </p:nvSpPr>
        <p:spPr>
          <a:xfrm rot="0">
            <a:off x="1145948" y="3365627"/>
            <a:ext cx="8676674" cy="4026405"/>
          </a:xfrm>
          <a:prstGeom prst="rect">
            <a:avLst/>
          </a:prstGeom>
        </p:spPr>
        <p:txBody>
          <a:bodyPr anchor="t" rtlCol="false" tIns="0" lIns="0" bIns="0" rIns="0">
            <a:spAutoFit/>
          </a:bodyPr>
          <a:lstStyle/>
          <a:p>
            <a:pPr algn="l" marL="635588" indent="-317794" lvl="1">
              <a:lnSpc>
                <a:spcPts val="4003"/>
              </a:lnSpc>
              <a:buFont typeface="Arial"/>
              <a:buChar char="•"/>
            </a:pPr>
            <a:r>
              <a:rPr lang="en-US" b="true" sz="2943" spc="144">
                <a:solidFill>
                  <a:srgbClr val="1F407A"/>
                </a:solidFill>
                <a:latin typeface="Montserrat Bold"/>
                <a:ea typeface="Montserrat Bold"/>
                <a:cs typeface="Montserrat Bold"/>
                <a:sym typeface="Montserrat Bold"/>
              </a:rPr>
              <a:t>Phát triển trên hệ điều hành Android</a:t>
            </a:r>
          </a:p>
          <a:p>
            <a:pPr algn="l" marL="635588" indent="-317794" lvl="1">
              <a:lnSpc>
                <a:spcPts val="4003"/>
              </a:lnSpc>
              <a:buFont typeface="Arial"/>
              <a:buChar char="•"/>
            </a:pPr>
            <a:r>
              <a:rPr lang="en-US" b="true" sz="2943" spc="144">
                <a:solidFill>
                  <a:srgbClr val="1F407A"/>
                </a:solidFill>
                <a:latin typeface="Montserrat Bold"/>
                <a:ea typeface="Montserrat Bold"/>
                <a:cs typeface="Montserrat Bold"/>
                <a:sym typeface="Montserrat Bold"/>
              </a:rPr>
              <a:t>Thư viện Google MLKit</a:t>
            </a:r>
          </a:p>
          <a:p>
            <a:pPr algn="l" marL="635588" indent="-317794" lvl="1">
              <a:lnSpc>
                <a:spcPts val="4003"/>
              </a:lnSpc>
              <a:buFont typeface="Arial"/>
              <a:buChar char="•"/>
            </a:pPr>
            <a:r>
              <a:rPr lang="en-US" b="true" sz="2943" spc="144">
                <a:solidFill>
                  <a:srgbClr val="1F407A"/>
                </a:solidFill>
                <a:latin typeface="Montserrat Bold"/>
                <a:ea typeface="Montserrat Bold"/>
                <a:cs typeface="Montserrat Bold"/>
                <a:sym typeface="Montserrat Bold"/>
              </a:rPr>
              <a:t>Kotlin</a:t>
            </a:r>
          </a:p>
          <a:p>
            <a:pPr algn="l" marL="635588" indent="-317794" lvl="1">
              <a:lnSpc>
                <a:spcPts val="4003"/>
              </a:lnSpc>
              <a:buFont typeface="Arial"/>
              <a:buChar char="•"/>
            </a:pPr>
            <a:r>
              <a:rPr lang="en-US" b="true" sz="2943" spc="144">
                <a:solidFill>
                  <a:srgbClr val="1F407A"/>
                </a:solidFill>
                <a:latin typeface="Montserrat Bold"/>
                <a:ea typeface="Montserrat Bold"/>
                <a:cs typeface="Montserrat Bold"/>
                <a:sym typeface="Montserrat Bold"/>
              </a:rPr>
              <a:t>Jetpack Compose</a:t>
            </a:r>
          </a:p>
          <a:p>
            <a:pPr algn="l" marL="635588" indent="-317794" lvl="1">
              <a:lnSpc>
                <a:spcPts val="4003"/>
              </a:lnSpc>
              <a:buFont typeface="Arial"/>
              <a:buChar char="•"/>
            </a:pPr>
            <a:r>
              <a:rPr lang="en-US" b="true" sz="2943" spc="144">
                <a:solidFill>
                  <a:srgbClr val="1F407A"/>
                </a:solidFill>
                <a:latin typeface="Montserrat Bold"/>
                <a:ea typeface="Montserrat Bold"/>
                <a:cs typeface="Montserrat Bold"/>
                <a:sym typeface="Montserrat Bold"/>
              </a:rPr>
              <a:t>Dagger Hilt</a:t>
            </a:r>
          </a:p>
          <a:p>
            <a:pPr algn="l" marL="635588" indent="-317794" lvl="1">
              <a:lnSpc>
                <a:spcPts val="4003"/>
              </a:lnSpc>
              <a:buFont typeface="Arial"/>
              <a:buChar char="•"/>
            </a:pPr>
            <a:r>
              <a:rPr lang="en-US" b="true" sz="2943" spc="144">
                <a:solidFill>
                  <a:srgbClr val="1F407A"/>
                </a:solidFill>
                <a:latin typeface="Montserrat Bold"/>
                <a:ea typeface="Montserrat Bold"/>
                <a:cs typeface="Montserrat Bold"/>
                <a:sym typeface="Montserrat Bold"/>
              </a:rPr>
              <a:t>Room Database</a:t>
            </a:r>
          </a:p>
          <a:p>
            <a:pPr algn="l" marL="635588" indent="-317794" lvl="1">
              <a:lnSpc>
                <a:spcPts val="4003"/>
              </a:lnSpc>
              <a:buFont typeface="Arial"/>
              <a:buChar char="•"/>
            </a:pPr>
            <a:r>
              <a:rPr lang="en-US" b="true" sz="2943" spc="144">
                <a:solidFill>
                  <a:srgbClr val="1F407A"/>
                </a:solidFill>
                <a:latin typeface="Montserrat Bold"/>
                <a:ea typeface="Montserrat Bold"/>
                <a:cs typeface="Montserrat Bold"/>
                <a:sym typeface="Montserrat Bold"/>
              </a:rPr>
              <a:t>Google Firebase</a:t>
            </a:r>
          </a:p>
          <a:p>
            <a:pPr algn="l">
              <a:lnSpc>
                <a:spcPts val="4003"/>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sp>
        <p:nvSpPr>
          <p:cNvPr name="Freeform 6" id="6"/>
          <p:cNvSpPr/>
          <p:nvPr/>
        </p:nvSpPr>
        <p:spPr>
          <a:xfrm flipH="false" flipV="false" rot="0">
            <a:off x="465164" y="3053178"/>
            <a:ext cx="8611665" cy="4413478"/>
          </a:xfrm>
          <a:custGeom>
            <a:avLst/>
            <a:gdLst/>
            <a:ahLst/>
            <a:cxnLst/>
            <a:rect r="r" b="b" t="t" l="l"/>
            <a:pathLst>
              <a:path h="4413478" w="8611665">
                <a:moveTo>
                  <a:pt x="0" y="0"/>
                </a:moveTo>
                <a:lnTo>
                  <a:pt x="8611665" y="0"/>
                </a:lnTo>
                <a:lnTo>
                  <a:pt x="8611665" y="4413478"/>
                </a:lnTo>
                <a:lnTo>
                  <a:pt x="0" y="4413478"/>
                </a:lnTo>
                <a:lnTo>
                  <a:pt x="0" y="0"/>
                </a:lnTo>
                <a:close/>
              </a:path>
            </a:pathLst>
          </a:custGeom>
          <a:blipFill>
            <a:blip r:embed="rId4"/>
            <a:stretch>
              <a:fillRect l="0" t="0" r="0" b="0"/>
            </a:stretch>
          </a:blipFill>
        </p:spPr>
      </p:sp>
      <p:sp>
        <p:nvSpPr>
          <p:cNvPr name="Freeform 7" id="7"/>
          <p:cNvSpPr/>
          <p:nvPr/>
        </p:nvSpPr>
        <p:spPr>
          <a:xfrm flipH="false" flipV="false" rot="0">
            <a:off x="9317581" y="3490449"/>
            <a:ext cx="8505256" cy="3976207"/>
          </a:xfrm>
          <a:custGeom>
            <a:avLst/>
            <a:gdLst/>
            <a:ahLst/>
            <a:cxnLst/>
            <a:rect r="r" b="b" t="t" l="l"/>
            <a:pathLst>
              <a:path h="3976207" w="8505256">
                <a:moveTo>
                  <a:pt x="0" y="0"/>
                </a:moveTo>
                <a:lnTo>
                  <a:pt x="8505255" y="0"/>
                </a:lnTo>
                <a:lnTo>
                  <a:pt x="8505255" y="3976207"/>
                </a:lnTo>
                <a:lnTo>
                  <a:pt x="0" y="3976207"/>
                </a:lnTo>
                <a:lnTo>
                  <a:pt x="0" y="0"/>
                </a:lnTo>
                <a:close/>
              </a:path>
            </a:pathLst>
          </a:custGeom>
          <a:blipFill>
            <a:blip r:embed="rId5"/>
            <a:stretch>
              <a:fillRect l="0" t="0" r="0" b="0"/>
            </a:stretch>
          </a:blipFill>
        </p:spPr>
      </p:sp>
      <p:sp>
        <p:nvSpPr>
          <p:cNvPr name="TextBox 8" id="8"/>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CÀI ĐẶT HỆ THỐNG</a:t>
            </a:r>
          </a:p>
        </p:txBody>
      </p:sp>
      <p:sp>
        <p:nvSpPr>
          <p:cNvPr name="TextBox 9" id="9"/>
          <p:cNvSpPr txBox="true"/>
          <p:nvPr/>
        </p:nvSpPr>
        <p:spPr>
          <a:xfrm rot="0">
            <a:off x="622021" y="2243374"/>
            <a:ext cx="8952244" cy="542296"/>
          </a:xfrm>
          <a:prstGeom prst="rect">
            <a:avLst/>
          </a:prstGeom>
        </p:spPr>
        <p:txBody>
          <a:bodyPr anchor="t" rtlCol="false" tIns="0" lIns="0" bIns="0" rIns="0">
            <a:spAutoFit/>
          </a:bodyPr>
          <a:lstStyle/>
          <a:p>
            <a:pPr algn="l">
              <a:lnSpc>
                <a:spcPts val="4606"/>
              </a:lnSpc>
              <a:spcBef>
                <a:spcPct val="0"/>
              </a:spcBef>
            </a:pPr>
            <a:r>
              <a:rPr lang="en-US" b="true" sz="2897">
                <a:solidFill>
                  <a:srgbClr val="1F407A"/>
                </a:solidFill>
                <a:latin typeface="Montserrat Bold"/>
                <a:ea typeface="Montserrat Bold"/>
                <a:cs typeface="Montserrat Bold"/>
                <a:sym typeface="Montserrat Bold"/>
              </a:rPr>
              <a:t>Phát triển CSDL với Firebase và Room</a:t>
            </a:r>
          </a:p>
        </p:txBody>
      </p:sp>
      <p:sp>
        <p:nvSpPr>
          <p:cNvPr name="TextBox 10" id="10"/>
          <p:cNvSpPr txBox="true"/>
          <p:nvPr/>
        </p:nvSpPr>
        <p:spPr>
          <a:xfrm rot="0">
            <a:off x="758052" y="7888786"/>
            <a:ext cx="15690056" cy="1156468"/>
          </a:xfrm>
          <a:prstGeom prst="rect">
            <a:avLst/>
          </a:prstGeom>
        </p:spPr>
        <p:txBody>
          <a:bodyPr anchor="t" rtlCol="false" tIns="0" lIns="0" bIns="0" rIns="0">
            <a:spAutoFit/>
          </a:bodyPr>
          <a:lstStyle/>
          <a:p>
            <a:pPr algn="just" marL="647119" indent="-323559" lvl="1">
              <a:lnSpc>
                <a:spcPts val="4765"/>
              </a:lnSpc>
              <a:buFont typeface="Arial"/>
              <a:buChar char="•"/>
            </a:pPr>
            <a:r>
              <a:rPr lang="en-US" sz="2997">
                <a:solidFill>
                  <a:srgbClr val="1F407A"/>
                </a:solidFill>
                <a:latin typeface="Montserrat"/>
                <a:ea typeface="Montserrat"/>
                <a:cs typeface="Montserrat"/>
                <a:sym typeface="Montserrat"/>
              </a:rPr>
              <a:t>Tạo các bảng trên Firebase và thêm dữ liệu</a:t>
            </a:r>
          </a:p>
          <a:p>
            <a:pPr algn="just" marL="647119" indent="-323559" lvl="1">
              <a:lnSpc>
                <a:spcPts val="4765"/>
              </a:lnSpc>
              <a:buFont typeface="Arial"/>
              <a:buChar char="•"/>
            </a:pPr>
            <a:r>
              <a:rPr lang="en-US" sz="2997">
                <a:solidFill>
                  <a:srgbClr val="1F407A"/>
                </a:solidFill>
                <a:latin typeface="Montserrat"/>
                <a:ea typeface="Montserrat"/>
                <a:cs typeface="Montserrat"/>
                <a:sym typeface="Montserrat"/>
              </a:rPr>
              <a:t>Để giảm tải số lần query lên Firebase, ta dùng Room để cache dữ liệu trên máy</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sp>
        <p:nvSpPr>
          <p:cNvPr name="Freeform 6" id="6"/>
          <p:cNvSpPr/>
          <p:nvPr/>
        </p:nvSpPr>
        <p:spPr>
          <a:xfrm flipH="false" flipV="false" rot="0">
            <a:off x="11890802" y="4440193"/>
            <a:ext cx="5719867" cy="2691100"/>
          </a:xfrm>
          <a:custGeom>
            <a:avLst/>
            <a:gdLst/>
            <a:ahLst/>
            <a:cxnLst/>
            <a:rect r="r" b="b" t="t" l="l"/>
            <a:pathLst>
              <a:path h="2691100" w="5719867">
                <a:moveTo>
                  <a:pt x="0" y="0"/>
                </a:moveTo>
                <a:lnTo>
                  <a:pt x="5719867" y="0"/>
                </a:lnTo>
                <a:lnTo>
                  <a:pt x="5719867" y="2691100"/>
                </a:lnTo>
                <a:lnTo>
                  <a:pt x="0" y="2691100"/>
                </a:lnTo>
                <a:lnTo>
                  <a:pt x="0" y="0"/>
                </a:lnTo>
                <a:close/>
              </a:path>
            </a:pathLst>
          </a:custGeom>
          <a:blipFill>
            <a:blip r:embed="rId4"/>
            <a:stretch>
              <a:fillRect l="0" t="0" r="0" b="0"/>
            </a:stretch>
          </a:blipFill>
        </p:spPr>
      </p:sp>
      <p:sp>
        <p:nvSpPr>
          <p:cNvPr name="TextBox 7" id="7"/>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CÀI ĐẶT HỆ THỐNG</a:t>
            </a:r>
          </a:p>
        </p:txBody>
      </p:sp>
      <p:sp>
        <p:nvSpPr>
          <p:cNvPr name="TextBox 8" id="8"/>
          <p:cNvSpPr txBox="true"/>
          <p:nvPr/>
        </p:nvSpPr>
        <p:spPr>
          <a:xfrm rot="0">
            <a:off x="622021" y="2243374"/>
            <a:ext cx="8952244" cy="542296"/>
          </a:xfrm>
          <a:prstGeom prst="rect">
            <a:avLst/>
          </a:prstGeom>
        </p:spPr>
        <p:txBody>
          <a:bodyPr anchor="t" rtlCol="false" tIns="0" lIns="0" bIns="0" rIns="0">
            <a:spAutoFit/>
          </a:bodyPr>
          <a:lstStyle/>
          <a:p>
            <a:pPr algn="l">
              <a:lnSpc>
                <a:spcPts val="4606"/>
              </a:lnSpc>
              <a:spcBef>
                <a:spcPct val="0"/>
              </a:spcBef>
            </a:pPr>
            <a:r>
              <a:rPr lang="en-US" b="true" sz="2897">
                <a:solidFill>
                  <a:srgbClr val="1F407A"/>
                </a:solidFill>
                <a:latin typeface="Montserrat Bold"/>
                <a:ea typeface="Montserrat Bold"/>
                <a:cs typeface="Montserrat Bold"/>
                <a:sym typeface="Montserrat Bold"/>
              </a:rPr>
              <a:t>Dùng Hilt để thực hiện Dependency Injection</a:t>
            </a:r>
          </a:p>
        </p:txBody>
      </p:sp>
      <p:sp>
        <p:nvSpPr>
          <p:cNvPr name="TextBox 9" id="9"/>
          <p:cNvSpPr txBox="true"/>
          <p:nvPr/>
        </p:nvSpPr>
        <p:spPr>
          <a:xfrm rot="0">
            <a:off x="622021" y="4133123"/>
            <a:ext cx="10912788" cy="4407923"/>
          </a:xfrm>
          <a:prstGeom prst="rect">
            <a:avLst/>
          </a:prstGeom>
        </p:spPr>
        <p:txBody>
          <a:bodyPr anchor="t" rtlCol="false" tIns="0" lIns="0" bIns="0" rIns="0">
            <a:spAutoFit/>
          </a:bodyPr>
          <a:lstStyle/>
          <a:p>
            <a:pPr algn="l" marL="798245" indent="-399122" lvl="1">
              <a:lnSpc>
                <a:spcPts val="5878"/>
              </a:lnSpc>
              <a:buFont typeface="Arial"/>
              <a:buChar char="•"/>
            </a:pPr>
            <a:r>
              <a:rPr lang="en-US" sz="3697">
                <a:solidFill>
                  <a:srgbClr val="1F407A"/>
                </a:solidFill>
                <a:latin typeface="Montserrat"/>
                <a:ea typeface="Montserrat"/>
                <a:cs typeface="Montserrat"/>
                <a:sym typeface="Montserrat"/>
              </a:rPr>
              <a:t>Bướ</a:t>
            </a:r>
            <a:r>
              <a:rPr lang="en-US" sz="3697">
                <a:solidFill>
                  <a:srgbClr val="1F407A"/>
                </a:solidFill>
                <a:latin typeface="Montserrat"/>
                <a:ea typeface="Montserrat"/>
                <a:cs typeface="Montserrat"/>
                <a:sym typeface="Montserrat"/>
              </a:rPr>
              <a:t>c 1: Thêm Hilt vào thư viện của dự án</a:t>
            </a:r>
          </a:p>
          <a:p>
            <a:pPr algn="l" marL="798245" indent="-399122" lvl="1">
              <a:lnSpc>
                <a:spcPts val="5878"/>
              </a:lnSpc>
              <a:buFont typeface="Arial"/>
              <a:buChar char="•"/>
            </a:pPr>
            <a:r>
              <a:rPr lang="en-US" sz="3697">
                <a:solidFill>
                  <a:srgbClr val="1F407A"/>
                </a:solidFill>
                <a:latin typeface="Montserrat"/>
                <a:ea typeface="Montserrat"/>
                <a:cs typeface="Montserrat"/>
                <a:sym typeface="Montserrat"/>
              </a:rPr>
              <a:t>Bước 2: Khởi tạo Hilt trong ứng dụng</a:t>
            </a:r>
          </a:p>
          <a:p>
            <a:pPr algn="l" marL="798245" indent="-399122" lvl="1">
              <a:lnSpc>
                <a:spcPts val="5878"/>
              </a:lnSpc>
              <a:buFont typeface="Arial"/>
              <a:buChar char="•"/>
            </a:pPr>
            <a:r>
              <a:rPr lang="en-US" sz="3697">
                <a:solidFill>
                  <a:srgbClr val="1F407A"/>
                </a:solidFill>
                <a:latin typeface="Montserrat"/>
                <a:ea typeface="Montserrat"/>
                <a:cs typeface="Montserrat"/>
                <a:sym typeface="Montserrat"/>
              </a:rPr>
              <a:t>Bước 3: Tạo Module cung cấp các thành phần như Room Database giúp hỗ trợ Singleton design pattern </a:t>
            </a:r>
          </a:p>
          <a:p>
            <a:pPr algn="l">
              <a:lnSpc>
                <a:spcPts val="5878"/>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sp>
        <p:nvSpPr>
          <p:cNvPr name="Freeform 6" id="6"/>
          <p:cNvSpPr/>
          <p:nvPr/>
        </p:nvSpPr>
        <p:spPr>
          <a:xfrm flipH="false" flipV="false" rot="0">
            <a:off x="8290848" y="3259458"/>
            <a:ext cx="9571092" cy="5694800"/>
          </a:xfrm>
          <a:custGeom>
            <a:avLst/>
            <a:gdLst/>
            <a:ahLst/>
            <a:cxnLst/>
            <a:rect r="r" b="b" t="t" l="l"/>
            <a:pathLst>
              <a:path h="5694800" w="9571092">
                <a:moveTo>
                  <a:pt x="0" y="0"/>
                </a:moveTo>
                <a:lnTo>
                  <a:pt x="9571092" y="0"/>
                </a:lnTo>
                <a:lnTo>
                  <a:pt x="9571092" y="5694799"/>
                </a:lnTo>
                <a:lnTo>
                  <a:pt x="0" y="5694799"/>
                </a:lnTo>
                <a:lnTo>
                  <a:pt x="0" y="0"/>
                </a:lnTo>
                <a:close/>
              </a:path>
            </a:pathLst>
          </a:custGeom>
          <a:blipFill>
            <a:blip r:embed="rId4"/>
            <a:stretch>
              <a:fillRect l="0" t="0" r="0" b="0"/>
            </a:stretch>
          </a:blipFill>
        </p:spPr>
      </p:sp>
      <p:sp>
        <p:nvSpPr>
          <p:cNvPr name="TextBox 7" id="7"/>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CÀI ĐẶT HỆ THỐNG</a:t>
            </a:r>
          </a:p>
        </p:txBody>
      </p:sp>
      <p:sp>
        <p:nvSpPr>
          <p:cNvPr name="TextBox 8" id="8"/>
          <p:cNvSpPr txBox="true"/>
          <p:nvPr/>
        </p:nvSpPr>
        <p:spPr>
          <a:xfrm rot="0">
            <a:off x="622021" y="2243374"/>
            <a:ext cx="8952244" cy="542296"/>
          </a:xfrm>
          <a:prstGeom prst="rect">
            <a:avLst/>
          </a:prstGeom>
        </p:spPr>
        <p:txBody>
          <a:bodyPr anchor="t" rtlCol="false" tIns="0" lIns="0" bIns="0" rIns="0">
            <a:spAutoFit/>
          </a:bodyPr>
          <a:lstStyle/>
          <a:p>
            <a:pPr algn="l">
              <a:lnSpc>
                <a:spcPts val="4606"/>
              </a:lnSpc>
              <a:spcBef>
                <a:spcPct val="0"/>
              </a:spcBef>
            </a:pPr>
            <a:r>
              <a:rPr lang="en-US" b="true" sz="2897">
                <a:solidFill>
                  <a:srgbClr val="1F407A"/>
                </a:solidFill>
                <a:latin typeface="Montserrat Bold"/>
                <a:ea typeface="Montserrat Bold"/>
                <a:cs typeface="Montserrat Bold"/>
                <a:sym typeface="Montserrat Bold"/>
              </a:rPr>
              <a:t>Chức năng phát nhạc</a:t>
            </a:r>
          </a:p>
        </p:txBody>
      </p:sp>
      <p:sp>
        <p:nvSpPr>
          <p:cNvPr name="TextBox 9" id="9"/>
          <p:cNvSpPr txBox="true"/>
          <p:nvPr/>
        </p:nvSpPr>
        <p:spPr>
          <a:xfrm rot="0">
            <a:off x="495679" y="3126108"/>
            <a:ext cx="7668827" cy="5893823"/>
          </a:xfrm>
          <a:prstGeom prst="rect">
            <a:avLst/>
          </a:prstGeom>
        </p:spPr>
        <p:txBody>
          <a:bodyPr anchor="t" rtlCol="false" tIns="0" lIns="0" bIns="0" rIns="0">
            <a:spAutoFit/>
          </a:bodyPr>
          <a:lstStyle/>
          <a:p>
            <a:pPr algn="l">
              <a:lnSpc>
                <a:spcPts val="5878"/>
              </a:lnSpc>
            </a:pPr>
            <a:r>
              <a:rPr lang="en-US" sz="3697">
                <a:solidFill>
                  <a:srgbClr val="1F407A"/>
                </a:solidFill>
                <a:latin typeface="Montserrat"/>
                <a:ea typeface="Montserrat"/>
                <a:cs typeface="Montserrat"/>
                <a:sym typeface="Montserrat"/>
              </a:rPr>
              <a:t>Chức năng chính của dự án là để phát video, nhạc. Để thực hiện phát nhạc, người dùng chọn một bài hát bất kỳ trên màn hình chính.</a:t>
            </a:r>
          </a:p>
          <a:p>
            <a:pPr algn="l">
              <a:lnSpc>
                <a:spcPts val="5878"/>
              </a:lnSpc>
            </a:pPr>
            <a:r>
              <a:rPr lang="en-US" sz="3697">
                <a:solidFill>
                  <a:srgbClr val="1F407A"/>
                </a:solidFill>
                <a:latin typeface="Montserrat"/>
                <a:ea typeface="Montserrat"/>
                <a:cs typeface="Montserrat"/>
                <a:sym typeface="Montserrat"/>
              </a:rPr>
              <a:t>Thông tin về bài hát đang phát sẽ hiển thị trên widget ở giữa màn hình chính</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pic>
        <p:nvPicPr>
          <p:cNvPr name="Picture 6" id="6">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2305336" y="2989343"/>
            <a:ext cx="13965410" cy="7112014"/>
          </a:xfrm>
          <a:prstGeom prst="rect">
            <a:avLst/>
          </a:prstGeom>
        </p:spPr>
      </p:pic>
      <p:sp>
        <p:nvSpPr>
          <p:cNvPr name="TextBox 7" id="7"/>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CÀI ĐẶT HỆ THỐNG</a:t>
            </a:r>
          </a:p>
        </p:txBody>
      </p:sp>
      <p:sp>
        <p:nvSpPr>
          <p:cNvPr name="TextBox 8" id="8"/>
          <p:cNvSpPr txBox="true"/>
          <p:nvPr/>
        </p:nvSpPr>
        <p:spPr>
          <a:xfrm rot="0">
            <a:off x="622021" y="2243374"/>
            <a:ext cx="8952244" cy="542296"/>
          </a:xfrm>
          <a:prstGeom prst="rect">
            <a:avLst/>
          </a:prstGeom>
        </p:spPr>
        <p:txBody>
          <a:bodyPr anchor="t" rtlCol="false" tIns="0" lIns="0" bIns="0" rIns="0">
            <a:spAutoFit/>
          </a:bodyPr>
          <a:lstStyle/>
          <a:p>
            <a:pPr algn="l">
              <a:lnSpc>
                <a:spcPts val="4606"/>
              </a:lnSpc>
              <a:spcBef>
                <a:spcPct val="0"/>
              </a:spcBef>
            </a:pPr>
            <a:r>
              <a:rPr lang="en-US" b="true" sz="2897">
                <a:solidFill>
                  <a:srgbClr val="1F407A"/>
                </a:solidFill>
                <a:latin typeface="Montserrat Bold"/>
                <a:ea typeface="Montserrat Bold"/>
                <a:cs typeface="Montserrat Bold"/>
                <a:sym typeface="Montserrat Bold"/>
              </a:rPr>
              <a:t>Chức năng tìm kiếm nhạc</a:t>
            </a:r>
          </a:p>
        </p:txBody>
      </p:sp>
    </p:spTree>
  </p:cSld>
  <p:clrMapOvr>
    <a:masterClrMapping/>
  </p:clrMapOvr>
  <p:timing>
    <p:tnLst>
      <p:par>
        <p:cTn dur="indefinite" restart="never" nodeType="tmRoot">
          <p:childTnLst>
            <p:video>
              <p:cMediaNode vol="0">
                <p:cTn fill="hold" display="false">
                  <p:stCondLst>
                    <p:cond delay="indefinite"/>
                  </p:stCondLst>
                </p:cTn>
                <p:tgtEl>
                  <p:spTgt spid="6"/>
                </p:tgtEl>
              </p:cMediaNode>
            </p:video>
          </p:childTnLst>
        </p:cTn>
      </p:par>
    </p:tnLst>
  </p:timing>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grpSp>
        <p:nvGrpSpPr>
          <p:cNvPr name="Group 6" id="6"/>
          <p:cNvGrpSpPr/>
          <p:nvPr/>
        </p:nvGrpSpPr>
        <p:grpSpPr>
          <a:xfrm rot="0">
            <a:off x="11116692" y="2566909"/>
            <a:ext cx="3883302" cy="3002295"/>
            <a:chOff x="0" y="0"/>
            <a:chExt cx="601625" cy="465134"/>
          </a:xfrm>
        </p:grpSpPr>
        <p:sp>
          <p:nvSpPr>
            <p:cNvPr name="Freeform 7" id="7"/>
            <p:cNvSpPr/>
            <p:nvPr/>
          </p:nvSpPr>
          <p:spPr>
            <a:xfrm flipH="false" flipV="false" rot="0">
              <a:off x="0" y="0"/>
              <a:ext cx="601625" cy="465134"/>
            </a:xfrm>
            <a:custGeom>
              <a:avLst/>
              <a:gdLst/>
              <a:ahLst/>
              <a:cxnLst/>
              <a:rect r="r" b="b" t="t" l="l"/>
              <a:pathLst>
                <a:path h="465134" w="601625">
                  <a:moveTo>
                    <a:pt x="45854" y="0"/>
                  </a:moveTo>
                  <a:lnTo>
                    <a:pt x="555771" y="0"/>
                  </a:lnTo>
                  <a:cubicBezTo>
                    <a:pt x="567933" y="0"/>
                    <a:pt x="579596" y="4831"/>
                    <a:pt x="588195" y="13430"/>
                  </a:cubicBezTo>
                  <a:cubicBezTo>
                    <a:pt x="596794" y="22030"/>
                    <a:pt x="601625" y="33693"/>
                    <a:pt x="601625" y="45854"/>
                  </a:cubicBezTo>
                  <a:lnTo>
                    <a:pt x="601625" y="419280"/>
                  </a:lnTo>
                  <a:cubicBezTo>
                    <a:pt x="601625" y="431441"/>
                    <a:pt x="596794" y="443105"/>
                    <a:pt x="588195" y="451704"/>
                  </a:cubicBezTo>
                  <a:cubicBezTo>
                    <a:pt x="579596" y="460303"/>
                    <a:pt x="567933" y="465134"/>
                    <a:pt x="555771" y="465134"/>
                  </a:cubicBezTo>
                  <a:lnTo>
                    <a:pt x="45854" y="465134"/>
                  </a:lnTo>
                  <a:cubicBezTo>
                    <a:pt x="33693" y="465134"/>
                    <a:pt x="22030" y="460303"/>
                    <a:pt x="13430" y="451704"/>
                  </a:cubicBezTo>
                  <a:cubicBezTo>
                    <a:pt x="4831" y="443105"/>
                    <a:pt x="0" y="431441"/>
                    <a:pt x="0" y="419280"/>
                  </a:cubicBezTo>
                  <a:lnTo>
                    <a:pt x="0" y="45854"/>
                  </a:lnTo>
                  <a:cubicBezTo>
                    <a:pt x="0" y="33693"/>
                    <a:pt x="4831" y="22030"/>
                    <a:pt x="13430" y="13430"/>
                  </a:cubicBezTo>
                  <a:cubicBezTo>
                    <a:pt x="22030" y="4831"/>
                    <a:pt x="33693" y="0"/>
                    <a:pt x="45854" y="0"/>
                  </a:cubicBezTo>
                  <a:close/>
                </a:path>
              </a:pathLst>
            </a:custGeom>
            <a:blipFill>
              <a:blip r:embed="rId4"/>
              <a:stretch>
                <a:fillRect l="0" t="-17694" r="0" b="-17694"/>
              </a:stretch>
            </a:blipFill>
          </p:spPr>
        </p:sp>
      </p:grpSp>
      <p:grpSp>
        <p:nvGrpSpPr>
          <p:cNvPr name="Group 8" id="8"/>
          <p:cNvGrpSpPr/>
          <p:nvPr/>
        </p:nvGrpSpPr>
        <p:grpSpPr>
          <a:xfrm rot="0">
            <a:off x="2177490" y="6165575"/>
            <a:ext cx="12921596" cy="3490083"/>
            <a:chOff x="0" y="0"/>
            <a:chExt cx="2001893" cy="540705"/>
          </a:xfrm>
        </p:grpSpPr>
        <p:sp>
          <p:nvSpPr>
            <p:cNvPr name="Freeform 9" id="9"/>
            <p:cNvSpPr/>
            <p:nvPr/>
          </p:nvSpPr>
          <p:spPr>
            <a:xfrm flipH="false" flipV="false" rot="0">
              <a:off x="0" y="0"/>
              <a:ext cx="2001894" cy="540705"/>
            </a:xfrm>
            <a:custGeom>
              <a:avLst/>
              <a:gdLst/>
              <a:ahLst/>
              <a:cxnLst/>
              <a:rect r="r" b="b" t="t" l="l"/>
              <a:pathLst>
                <a:path h="540705" w="2001894">
                  <a:moveTo>
                    <a:pt x="13780" y="0"/>
                  </a:moveTo>
                  <a:lnTo>
                    <a:pt x="1988113" y="0"/>
                  </a:lnTo>
                  <a:cubicBezTo>
                    <a:pt x="1991768" y="0"/>
                    <a:pt x="1995273" y="1452"/>
                    <a:pt x="1997857" y="4036"/>
                  </a:cubicBezTo>
                  <a:cubicBezTo>
                    <a:pt x="2000442" y="6620"/>
                    <a:pt x="2001894" y="10126"/>
                    <a:pt x="2001894" y="13780"/>
                  </a:cubicBezTo>
                  <a:lnTo>
                    <a:pt x="2001894" y="526925"/>
                  </a:lnTo>
                  <a:cubicBezTo>
                    <a:pt x="2001894" y="530580"/>
                    <a:pt x="2000442" y="534085"/>
                    <a:pt x="1997857" y="536669"/>
                  </a:cubicBezTo>
                  <a:cubicBezTo>
                    <a:pt x="1995273" y="539253"/>
                    <a:pt x="1991768" y="540705"/>
                    <a:pt x="1988113" y="540705"/>
                  </a:cubicBezTo>
                  <a:lnTo>
                    <a:pt x="13780" y="540705"/>
                  </a:lnTo>
                  <a:cubicBezTo>
                    <a:pt x="10126" y="540705"/>
                    <a:pt x="6620" y="539253"/>
                    <a:pt x="4036" y="536669"/>
                  </a:cubicBezTo>
                  <a:cubicBezTo>
                    <a:pt x="1452" y="534085"/>
                    <a:pt x="0" y="530580"/>
                    <a:pt x="0" y="526925"/>
                  </a:cubicBezTo>
                  <a:lnTo>
                    <a:pt x="0" y="13780"/>
                  </a:lnTo>
                  <a:cubicBezTo>
                    <a:pt x="0" y="10126"/>
                    <a:pt x="1452" y="6620"/>
                    <a:pt x="4036" y="4036"/>
                  </a:cubicBezTo>
                  <a:cubicBezTo>
                    <a:pt x="6620" y="1452"/>
                    <a:pt x="10126" y="0"/>
                    <a:pt x="13780" y="0"/>
                  </a:cubicBezTo>
                  <a:close/>
                </a:path>
              </a:pathLst>
            </a:custGeom>
            <a:blipFill>
              <a:blip r:embed="rId5"/>
              <a:stretch>
                <a:fillRect l="-822" t="0" r="-822" b="0"/>
              </a:stretch>
            </a:blipFill>
          </p:spPr>
        </p:sp>
      </p:grpSp>
      <p:sp>
        <p:nvSpPr>
          <p:cNvPr name="TextBox 10" id="10"/>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CÀI ĐẶT HỆ THỐNG</a:t>
            </a:r>
          </a:p>
        </p:txBody>
      </p:sp>
      <p:sp>
        <p:nvSpPr>
          <p:cNvPr name="TextBox 11" id="11"/>
          <p:cNvSpPr txBox="true"/>
          <p:nvPr/>
        </p:nvSpPr>
        <p:spPr>
          <a:xfrm rot="0">
            <a:off x="622021" y="2243374"/>
            <a:ext cx="9615540" cy="542296"/>
          </a:xfrm>
          <a:prstGeom prst="rect">
            <a:avLst/>
          </a:prstGeom>
        </p:spPr>
        <p:txBody>
          <a:bodyPr anchor="t" rtlCol="false" tIns="0" lIns="0" bIns="0" rIns="0">
            <a:spAutoFit/>
          </a:bodyPr>
          <a:lstStyle/>
          <a:p>
            <a:pPr algn="l">
              <a:lnSpc>
                <a:spcPts val="4606"/>
              </a:lnSpc>
              <a:spcBef>
                <a:spcPct val="0"/>
              </a:spcBef>
            </a:pPr>
            <a:r>
              <a:rPr lang="en-US" b="true" sz="2897">
                <a:solidFill>
                  <a:srgbClr val="1F407A"/>
                </a:solidFill>
                <a:latin typeface="Montserrat Bold"/>
                <a:ea typeface="Montserrat Bold"/>
                <a:cs typeface="Montserrat Bold"/>
                <a:sym typeface="Montserrat Bold"/>
              </a:rPr>
              <a:t>Chức năng thêm bài hát vào danh sách yêu thích</a:t>
            </a:r>
          </a:p>
        </p:txBody>
      </p:sp>
      <p:sp>
        <p:nvSpPr>
          <p:cNvPr name="TextBox 12" id="12"/>
          <p:cNvSpPr txBox="true"/>
          <p:nvPr/>
        </p:nvSpPr>
        <p:spPr>
          <a:xfrm rot="0">
            <a:off x="732570" y="3014584"/>
            <a:ext cx="7905718" cy="2922023"/>
          </a:xfrm>
          <a:prstGeom prst="rect">
            <a:avLst/>
          </a:prstGeom>
        </p:spPr>
        <p:txBody>
          <a:bodyPr anchor="t" rtlCol="false" tIns="0" lIns="0" bIns="0" rIns="0">
            <a:spAutoFit/>
          </a:bodyPr>
          <a:lstStyle/>
          <a:p>
            <a:pPr algn="l">
              <a:lnSpc>
                <a:spcPts val="5878"/>
              </a:lnSpc>
            </a:pPr>
            <a:r>
              <a:rPr lang="en-US" sz="3697">
                <a:solidFill>
                  <a:srgbClr val="1F407A"/>
                </a:solidFill>
                <a:latin typeface="Montserrat"/>
                <a:ea typeface="Montserrat"/>
                <a:cs typeface="Montserrat"/>
                <a:sym typeface="Montserrat"/>
              </a:rPr>
              <a:t>Khi nhấn vào icon hình trái tim, bài hát sẽ được thêm vào danh sách yêu thích </a:t>
            </a:r>
          </a:p>
          <a:p>
            <a:pPr algn="l">
              <a:lnSpc>
                <a:spcPts val="5878"/>
              </a:lnSpc>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grpSp>
        <p:nvGrpSpPr>
          <p:cNvPr name="Group 6" id="6"/>
          <p:cNvGrpSpPr/>
          <p:nvPr/>
        </p:nvGrpSpPr>
        <p:grpSpPr>
          <a:xfrm rot="0">
            <a:off x="3099296" y="6049216"/>
            <a:ext cx="10805261" cy="2405577"/>
            <a:chOff x="0" y="0"/>
            <a:chExt cx="2428715" cy="540705"/>
          </a:xfrm>
        </p:grpSpPr>
        <p:sp>
          <p:nvSpPr>
            <p:cNvPr name="Freeform 7" id="7"/>
            <p:cNvSpPr/>
            <p:nvPr/>
          </p:nvSpPr>
          <p:spPr>
            <a:xfrm flipH="false" flipV="false" rot="0">
              <a:off x="0" y="0"/>
              <a:ext cx="2428715" cy="540705"/>
            </a:xfrm>
            <a:custGeom>
              <a:avLst/>
              <a:gdLst/>
              <a:ahLst/>
              <a:cxnLst/>
              <a:rect r="r" b="b" t="t" l="l"/>
              <a:pathLst>
                <a:path h="540705" w="2428715">
                  <a:moveTo>
                    <a:pt x="16479" y="0"/>
                  </a:moveTo>
                  <a:lnTo>
                    <a:pt x="2412236" y="0"/>
                  </a:lnTo>
                  <a:cubicBezTo>
                    <a:pt x="2416606" y="0"/>
                    <a:pt x="2420798" y="1736"/>
                    <a:pt x="2423888" y="4827"/>
                  </a:cubicBezTo>
                  <a:cubicBezTo>
                    <a:pt x="2426979" y="7917"/>
                    <a:pt x="2428715" y="12109"/>
                    <a:pt x="2428715" y="16479"/>
                  </a:cubicBezTo>
                  <a:lnTo>
                    <a:pt x="2428715" y="524226"/>
                  </a:lnTo>
                  <a:cubicBezTo>
                    <a:pt x="2428715" y="528596"/>
                    <a:pt x="2426979" y="532788"/>
                    <a:pt x="2423888" y="535879"/>
                  </a:cubicBezTo>
                  <a:cubicBezTo>
                    <a:pt x="2420798" y="538969"/>
                    <a:pt x="2416606" y="540705"/>
                    <a:pt x="2412236" y="540705"/>
                  </a:cubicBezTo>
                  <a:lnTo>
                    <a:pt x="16479" y="540705"/>
                  </a:lnTo>
                  <a:cubicBezTo>
                    <a:pt x="12109" y="540705"/>
                    <a:pt x="7917" y="538969"/>
                    <a:pt x="4827" y="535879"/>
                  </a:cubicBezTo>
                  <a:cubicBezTo>
                    <a:pt x="1736" y="532788"/>
                    <a:pt x="0" y="528596"/>
                    <a:pt x="0" y="524226"/>
                  </a:cubicBezTo>
                  <a:lnTo>
                    <a:pt x="0" y="16479"/>
                  </a:lnTo>
                  <a:cubicBezTo>
                    <a:pt x="0" y="12109"/>
                    <a:pt x="1736" y="7917"/>
                    <a:pt x="4827" y="4827"/>
                  </a:cubicBezTo>
                  <a:cubicBezTo>
                    <a:pt x="7917" y="1736"/>
                    <a:pt x="12109" y="0"/>
                    <a:pt x="16479" y="0"/>
                  </a:cubicBezTo>
                  <a:close/>
                </a:path>
              </a:pathLst>
            </a:custGeom>
            <a:blipFill>
              <a:blip r:embed="rId4"/>
              <a:stretch>
                <a:fillRect l="0" t="-2844" r="0" b="-2844"/>
              </a:stretch>
            </a:blipFill>
          </p:spPr>
        </p:sp>
      </p:grpSp>
      <p:sp>
        <p:nvSpPr>
          <p:cNvPr name="TextBox 8" id="8"/>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CÀI ĐẶT HỆ THỐNG</a:t>
            </a:r>
          </a:p>
        </p:txBody>
      </p:sp>
      <p:sp>
        <p:nvSpPr>
          <p:cNvPr name="TextBox 9" id="9"/>
          <p:cNvSpPr txBox="true"/>
          <p:nvPr/>
        </p:nvSpPr>
        <p:spPr>
          <a:xfrm rot="0">
            <a:off x="622021" y="2243374"/>
            <a:ext cx="9615540" cy="542296"/>
          </a:xfrm>
          <a:prstGeom prst="rect">
            <a:avLst/>
          </a:prstGeom>
        </p:spPr>
        <p:txBody>
          <a:bodyPr anchor="t" rtlCol="false" tIns="0" lIns="0" bIns="0" rIns="0">
            <a:spAutoFit/>
          </a:bodyPr>
          <a:lstStyle/>
          <a:p>
            <a:pPr algn="l">
              <a:lnSpc>
                <a:spcPts val="4606"/>
              </a:lnSpc>
              <a:spcBef>
                <a:spcPct val="0"/>
              </a:spcBef>
            </a:pPr>
            <a:r>
              <a:rPr lang="en-US" b="true" sz="2897">
                <a:solidFill>
                  <a:srgbClr val="1F407A"/>
                </a:solidFill>
                <a:latin typeface="Montserrat Bold"/>
                <a:ea typeface="Montserrat Bold"/>
                <a:cs typeface="Montserrat Bold"/>
                <a:sym typeface="Montserrat Bold"/>
              </a:rPr>
              <a:t>Chức năng thêm bài hát vào danh sách phát</a:t>
            </a:r>
          </a:p>
        </p:txBody>
      </p:sp>
      <p:sp>
        <p:nvSpPr>
          <p:cNvPr name="TextBox 10" id="10"/>
          <p:cNvSpPr txBox="true"/>
          <p:nvPr/>
        </p:nvSpPr>
        <p:spPr>
          <a:xfrm rot="0">
            <a:off x="732570" y="3014584"/>
            <a:ext cx="13422103" cy="2179073"/>
          </a:xfrm>
          <a:prstGeom prst="rect">
            <a:avLst/>
          </a:prstGeom>
        </p:spPr>
        <p:txBody>
          <a:bodyPr anchor="t" rtlCol="false" tIns="0" lIns="0" bIns="0" rIns="0">
            <a:spAutoFit/>
          </a:bodyPr>
          <a:lstStyle/>
          <a:p>
            <a:pPr algn="l">
              <a:lnSpc>
                <a:spcPts val="5878"/>
              </a:lnSpc>
            </a:pPr>
            <a:r>
              <a:rPr lang="en-US" sz="3697">
                <a:solidFill>
                  <a:srgbClr val="1F407A"/>
                </a:solidFill>
                <a:latin typeface="Montserrat"/>
                <a:ea typeface="Montserrat"/>
                <a:cs typeface="Montserrat"/>
                <a:sym typeface="Montserrat"/>
              </a:rPr>
              <a:t>Bên cạnh từng bài hát là nút để thêm vào danh sách phát (queue) giúp người dùng có thể bố trí thứ tự phát các bài tiếp theo</a:t>
            </a:r>
          </a:p>
        </p:txBody>
      </p:sp>
      <p:sp>
        <p:nvSpPr>
          <p:cNvPr name="AutoShape 11" id="11"/>
          <p:cNvSpPr/>
          <p:nvPr/>
        </p:nvSpPr>
        <p:spPr>
          <a:xfrm flipH="true">
            <a:off x="13186919" y="4523831"/>
            <a:ext cx="2766647" cy="2474024"/>
          </a:xfrm>
          <a:prstGeom prst="line">
            <a:avLst/>
          </a:prstGeom>
          <a:ln cap="flat" w="209550">
            <a:solidFill>
              <a:srgbClr val="FF3131"/>
            </a:solidFill>
            <a:prstDash val="solid"/>
            <a:headEnd type="none" len="sm" w="sm"/>
            <a:tailEnd type="arrow" len="sm" w="med"/>
          </a:ln>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grpSp>
        <p:nvGrpSpPr>
          <p:cNvPr name="Group 6" id="6"/>
          <p:cNvGrpSpPr/>
          <p:nvPr/>
        </p:nvGrpSpPr>
        <p:grpSpPr>
          <a:xfrm rot="0">
            <a:off x="3503500" y="4432457"/>
            <a:ext cx="11628875" cy="5854543"/>
            <a:chOff x="0" y="0"/>
            <a:chExt cx="1760931" cy="886538"/>
          </a:xfrm>
        </p:grpSpPr>
        <p:sp>
          <p:nvSpPr>
            <p:cNvPr name="Freeform 7" id="7"/>
            <p:cNvSpPr/>
            <p:nvPr/>
          </p:nvSpPr>
          <p:spPr>
            <a:xfrm flipH="false" flipV="false" rot="0">
              <a:off x="0" y="0"/>
              <a:ext cx="1760930" cy="886538"/>
            </a:xfrm>
            <a:custGeom>
              <a:avLst/>
              <a:gdLst/>
              <a:ahLst/>
              <a:cxnLst/>
              <a:rect r="r" b="b" t="t" l="l"/>
              <a:pathLst>
                <a:path h="886538" w="1760930">
                  <a:moveTo>
                    <a:pt x="15312" y="0"/>
                  </a:moveTo>
                  <a:lnTo>
                    <a:pt x="1745618" y="0"/>
                  </a:lnTo>
                  <a:cubicBezTo>
                    <a:pt x="1754075" y="0"/>
                    <a:pt x="1760930" y="6856"/>
                    <a:pt x="1760930" y="15312"/>
                  </a:cubicBezTo>
                  <a:lnTo>
                    <a:pt x="1760930" y="871226"/>
                  </a:lnTo>
                  <a:cubicBezTo>
                    <a:pt x="1760930" y="875287"/>
                    <a:pt x="1759317" y="879182"/>
                    <a:pt x="1756446" y="882054"/>
                  </a:cubicBezTo>
                  <a:cubicBezTo>
                    <a:pt x="1753574" y="884925"/>
                    <a:pt x="1749679" y="886538"/>
                    <a:pt x="1745618" y="886538"/>
                  </a:cubicBezTo>
                  <a:lnTo>
                    <a:pt x="15312" y="886538"/>
                  </a:lnTo>
                  <a:cubicBezTo>
                    <a:pt x="11251" y="886538"/>
                    <a:pt x="7356" y="884925"/>
                    <a:pt x="4485" y="882054"/>
                  </a:cubicBezTo>
                  <a:cubicBezTo>
                    <a:pt x="1613" y="879182"/>
                    <a:pt x="0" y="875287"/>
                    <a:pt x="0" y="871226"/>
                  </a:cubicBezTo>
                  <a:lnTo>
                    <a:pt x="0" y="15312"/>
                  </a:lnTo>
                  <a:cubicBezTo>
                    <a:pt x="0" y="11251"/>
                    <a:pt x="1613" y="7356"/>
                    <a:pt x="4485" y="4485"/>
                  </a:cubicBezTo>
                  <a:cubicBezTo>
                    <a:pt x="7356" y="1613"/>
                    <a:pt x="11251" y="0"/>
                    <a:pt x="15312" y="0"/>
                  </a:cubicBezTo>
                  <a:close/>
                </a:path>
              </a:pathLst>
            </a:custGeom>
            <a:blipFill>
              <a:blip r:embed="rId4"/>
              <a:stretch>
                <a:fillRect l="0" t="-577" r="0" b="-577"/>
              </a:stretch>
            </a:blipFill>
          </p:spPr>
        </p:sp>
      </p:grpSp>
      <p:sp>
        <p:nvSpPr>
          <p:cNvPr name="AutoShape 8" id="8"/>
          <p:cNvSpPr/>
          <p:nvPr/>
        </p:nvSpPr>
        <p:spPr>
          <a:xfrm flipH="true">
            <a:off x="14735220" y="4696471"/>
            <a:ext cx="2265563" cy="1308023"/>
          </a:xfrm>
          <a:prstGeom prst="line">
            <a:avLst/>
          </a:prstGeom>
          <a:ln cap="flat" w="142875">
            <a:solidFill>
              <a:srgbClr val="FF3131"/>
            </a:solidFill>
            <a:prstDash val="solid"/>
            <a:headEnd type="none" len="sm" w="sm"/>
            <a:tailEnd type="arrow" len="sm" w="med"/>
          </a:ln>
        </p:spPr>
      </p:sp>
      <p:sp>
        <p:nvSpPr>
          <p:cNvPr name="TextBox 9" id="9"/>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CÀI ĐẶT HỆ THỐNG</a:t>
            </a:r>
          </a:p>
        </p:txBody>
      </p:sp>
      <p:sp>
        <p:nvSpPr>
          <p:cNvPr name="TextBox 10" id="10"/>
          <p:cNvSpPr txBox="true"/>
          <p:nvPr/>
        </p:nvSpPr>
        <p:spPr>
          <a:xfrm rot="0">
            <a:off x="622021" y="2243374"/>
            <a:ext cx="9615540" cy="1123321"/>
          </a:xfrm>
          <a:prstGeom prst="rect">
            <a:avLst/>
          </a:prstGeom>
        </p:spPr>
        <p:txBody>
          <a:bodyPr anchor="t" rtlCol="false" tIns="0" lIns="0" bIns="0" rIns="0">
            <a:spAutoFit/>
          </a:bodyPr>
          <a:lstStyle/>
          <a:p>
            <a:pPr algn="l">
              <a:lnSpc>
                <a:spcPts val="4606"/>
              </a:lnSpc>
            </a:pPr>
            <a:r>
              <a:rPr lang="en-US" sz="2897" b="true">
                <a:solidFill>
                  <a:srgbClr val="1F407A"/>
                </a:solidFill>
                <a:latin typeface="Montserrat Bold"/>
                <a:ea typeface="Montserrat Bold"/>
                <a:cs typeface="Montserrat Bold"/>
                <a:sym typeface="Montserrat Bold"/>
              </a:rPr>
              <a:t>Chức năng xóa bài hát khỏi danh sách phát</a:t>
            </a:r>
          </a:p>
          <a:p>
            <a:pPr algn="l">
              <a:lnSpc>
                <a:spcPts val="4606"/>
              </a:lnSpc>
              <a:spcBef>
                <a:spcPct val="0"/>
              </a:spcBef>
            </a:pPr>
          </a:p>
        </p:txBody>
      </p:sp>
      <p:sp>
        <p:nvSpPr>
          <p:cNvPr name="TextBox 11" id="11"/>
          <p:cNvSpPr txBox="true"/>
          <p:nvPr/>
        </p:nvSpPr>
        <p:spPr>
          <a:xfrm rot="0">
            <a:off x="622021" y="2855837"/>
            <a:ext cx="16716801" cy="1436123"/>
          </a:xfrm>
          <a:prstGeom prst="rect">
            <a:avLst/>
          </a:prstGeom>
        </p:spPr>
        <p:txBody>
          <a:bodyPr anchor="t" rtlCol="false" tIns="0" lIns="0" bIns="0" rIns="0">
            <a:spAutoFit/>
          </a:bodyPr>
          <a:lstStyle/>
          <a:p>
            <a:pPr algn="l">
              <a:lnSpc>
                <a:spcPts val="5878"/>
              </a:lnSpc>
            </a:pPr>
            <a:r>
              <a:rPr lang="en-US" sz="3697">
                <a:solidFill>
                  <a:srgbClr val="1F407A"/>
                </a:solidFill>
                <a:latin typeface="Montserrat"/>
                <a:ea typeface="Montserrat"/>
                <a:cs typeface="Montserrat"/>
                <a:sym typeface="Montserrat"/>
              </a:rPr>
              <a:t>Tương tự, trong màn hình Now Playing, người dùng có thể xóa bài hát khỏi danh sách phát hiện tại.</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grpSp>
        <p:nvGrpSpPr>
          <p:cNvPr name="Group 6" id="6"/>
          <p:cNvGrpSpPr/>
          <p:nvPr/>
        </p:nvGrpSpPr>
        <p:grpSpPr>
          <a:xfrm rot="0">
            <a:off x="622021" y="3533152"/>
            <a:ext cx="17024807" cy="4799357"/>
            <a:chOff x="0" y="0"/>
            <a:chExt cx="2545758" cy="717659"/>
          </a:xfrm>
        </p:grpSpPr>
        <p:sp>
          <p:nvSpPr>
            <p:cNvPr name="Freeform 7" id="7"/>
            <p:cNvSpPr/>
            <p:nvPr/>
          </p:nvSpPr>
          <p:spPr>
            <a:xfrm flipH="false" flipV="false" rot="0">
              <a:off x="0" y="0"/>
              <a:ext cx="2545758" cy="717659"/>
            </a:xfrm>
            <a:custGeom>
              <a:avLst/>
              <a:gdLst/>
              <a:ahLst/>
              <a:cxnLst/>
              <a:rect r="r" b="b" t="t" l="l"/>
              <a:pathLst>
                <a:path h="717659" w="2545758">
                  <a:moveTo>
                    <a:pt x="10459" y="0"/>
                  </a:moveTo>
                  <a:lnTo>
                    <a:pt x="2535299" y="0"/>
                  </a:lnTo>
                  <a:cubicBezTo>
                    <a:pt x="2541075" y="0"/>
                    <a:pt x="2545758" y="4683"/>
                    <a:pt x="2545758" y="10459"/>
                  </a:cubicBezTo>
                  <a:lnTo>
                    <a:pt x="2545758" y="707200"/>
                  </a:lnTo>
                  <a:cubicBezTo>
                    <a:pt x="2545758" y="712976"/>
                    <a:pt x="2541075" y="717659"/>
                    <a:pt x="2535299" y="717659"/>
                  </a:cubicBezTo>
                  <a:lnTo>
                    <a:pt x="10459" y="717659"/>
                  </a:lnTo>
                  <a:cubicBezTo>
                    <a:pt x="7685" y="717659"/>
                    <a:pt x="5025" y="716557"/>
                    <a:pt x="3063" y="714595"/>
                  </a:cubicBezTo>
                  <a:cubicBezTo>
                    <a:pt x="1102" y="712634"/>
                    <a:pt x="0" y="709973"/>
                    <a:pt x="0" y="707200"/>
                  </a:cubicBezTo>
                  <a:lnTo>
                    <a:pt x="0" y="10459"/>
                  </a:lnTo>
                  <a:cubicBezTo>
                    <a:pt x="0" y="7685"/>
                    <a:pt x="1102" y="5025"/>
                    <a:pt x="3063" y="3063"/>
                  </a:cubicBezTo>
                  <a:cubicBezTo>
                    <a:pt x="5025" y="1102"/>
                    <a:pt x="7685" y="0"/>
                    <a:pt x="10459" y="0"/>
                  </a:cubicBezTo>
                  <a:close/>
                </a:path>
              </a:pathLst>
            </a:custGeom>
            <a:blipFill>
              <a:blip r:embed="rId4"/>
              <a:stretch>
                <a:fillRect l="0" t="-2322" r="0" b="-2322"/>
              </a:stretch>
            </a:blipFill>
          </p:spPr>
        </p:sp>
      </p:grpSp>
      <p:sp>
        <p:nvSpPr>
          <p:cNvPr name="TextBox 8" id="8"/>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KẾT QUẢ KIỂM THỬ</a:t>
            </a:r>
          </a:p>
        </p:txBody>
      </p:sp>
      <p:sp>
        <p:nvSpPr>
          <p:cNvPr name="TextBox 9" id="9"/>
          <p:cNvSpPr txBox="true"/>
          <p:nvPr/>
        </p:nvSpPr>
        <p:spPr>
          <a:xfrm rot="0">
            <a:off x="622021" y="2243374"/>
            <a:ext cx="9615540" cy="542296"/>
          </a:xfrm>
          <a:prstGeom prst="rect">
            <a:avLst/>
          </a:prstGeom>
        </p:spPr>
        <p:txBody>
          <a:bodyPr anchor="t" rtlCol="false" tIns="0" lIns="0" bIns="0" rIns="0">
            <a:spAutoFit/>
          </a:bodyPr>
          <a:lstStyle/>
          <a:p>
            <a:pPr algn="l">
              <a:lnSpc>
                <a:spcPts val="4606"/>
              </a:lnSpc>
              <a:spcBef>
                <a:spcPct val="0"/>
              </a:spcBef>
            </a:pPr>
            <a:r>
              <a:rPr lang="en-US" b="true" sz="2897">
                <a:solidFill>
                  <a:srgbClr val="1F407A"/>
                </a:solidFill>
                <a:latin typeface="Montserrat Bold"/>
                <a:ea typeface="Montserrat Bold"/>
                <a:cs typeface="Montserrat Bold"/>
                <a:sym typeface="Montserrat Bold"/>
              </a:rPr>
              <a:t>Lớp kiểm thử FaceEmotionViewModel</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grpSp>
        <p:nvGrpSpPr>
          <p:cNvPr name="Group 6" id="6"/>
          <p:cNvGrpSpPr/>
          <p:nvPr/>
        </p:nvGrpSpPr>
        <p:grpSpPr>
          <a:xfrm rot="0">
            <a:off x="4721670" y="4500113"/>
            <a:ext cx="13358297" cy="2382918"/>
            <a:chOff x="0" y="0"/>
            <a:chExt cx="1608644" cy="286958"/>
          </a:xfrm>
        </p:grpSpPr>
        <p:sp>
          <p:nvSpPr>
            <p:cNvPr name="Freeform 7" id="7"/>
            <p:cNvSpPr/>
            <p:nvPr/>
          </p:nvSpPr>
          <p:spPr>
            <a:xfrm flipH="false" flipV="false" rot="0">
              <a:off x="0" y="0"/>
              <a:ext cx="1608644" cy="286958"/>
            </a:xfrm>
            <a:custGeom>
              <a:avLst/>
              <a:gdLst/>
              <a:ahLst/>
              <a:cxnLst/>
              <a:rect r="r" b="b" t="t" l="l"/>
              <a:pathLst>
                <a:path h="286958" w="1608644">
                  <a:moveTo>
                    <a:pt x="13330" y="0"/>
                  </a:moveTo>
                  <a:lnTo>
                    <a:pt x="1595314" y="0"/>
                  </a:lnTo>
                  <a:cubicBezTo>
                    <a:pt x="1598849" y="0"/>
                    <a:pt x="1602240" y="1404"/>
                    <a:pt x="1604739" y="3904"/>
                  </a:cubicBezTo>
                  <a:cubicBezTo>
                    <a:pt x="1607239" y="6404"/>
                    <a:pt x="1608644" y="9795"/>
                    <a:pt x="1608644" y="13330"/>
                  </a:cubicBezTo>
                  <a:lnTo>
                    <a:pt x="1608644" y="273628"/>
                  </a:lnTo>
                  <a:cubicBezTo>
                    <a:pt x="1608644" y="277163"/>
                    <a:pt x="1607239" y="280554"/>
                    <a:pt x="1604739" y="283053"/>
                  </a:cubicBezTo>
                  <a:cubicBezTo>
                    <a:pt x="1602240" y="285553"/>
                    <a:pt x="1598849" y="286958"/>
                    <a:pt x="1595314" y="286958"/>
                  </a:cubicBezTo>
                  <a:lnTo>
                    <a:pt x="13330" y="286958"/>
                  </a:lnTo>
                  <a:cubicBezTo>
                    <a:pt x="9795" y="286958"/>
                    <a:pt x="6404" y="285553"/>
                    <a:pt x="3904" y="283053"/>
                  </a:cubicBezTo>
                  <a:cubicBezTo>
                    <a:pt x="1404" y="280554"/>
                    <a:pt x="0" y="277163"/>
                    <a:pt x="0" y="273628"/>
                  </a:cubicBezTo>
                  <a:lnTo>
                    <a:pt x="0" y="13330"/>
                  </a:lnTo>
                  <a:cubicBezTo>
                    <a:pt x="0" y="9795"/>
                    <a:pt x="1404" y="6404"/>
                    <a:pt x="3904" y="3904"/>
                  </a:cubicBezTo>
                  <a:cubicBezTo>
                    <a:pt x="6404" y="1404"/>
                    <a:pt x="9795" y="0"/>
                    <a:pt x="13330" y="0"/>
                  </a:cubicBezTo>
                  <a:close/>
                </a:path>
              </a:pathLst>
            </a:custGeom>
            <a:blipFill>
              <a:blip r:embed="rId4"/>
              <a:stretch>
                <a:fillRect l="0" t="-3174" r="0" b="-257702"/>
              </a:stretch>
            </a:blipFill>
          </p:spPr>
        </p:sp>
      </p:grpSp>
      <p:sp>
        <p:nvSpPr>
          <p:cNvPr name="TextBox 8" id="8"/>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KẾT QUẢ KIỂM THỬ</a:t>
            </a:r>
          </a:p>
        </p:txBody>
      </p:sp>
      <p:sp>
        <p:nvSpPr>
          <p:cNvPr name="TextBox 9" id="9"/>
          <p:cNvSpPr txBox="true"/>
          <p:nvPr/>
        </p:nvSpPr>
        <p:spPr>
          <a:xfrm rot="0">
            <a:off x="622021" y="2243374"/>
            <a:ext cx="9615540" cy="542296"/>
          </a:xfrm>
          <a:prstGeom prst="rect">
            <a:avLst/>
          </a:prstGeom>
        </p:spPr>
        <p:txBody>
          <a:bodyPr anchor="t" rtlCol="false" tIns="0" lIns="0" bIns="0" rIns="0">
            <a:spAutoFit/>
          </a:bodyPr>
          <a:lstStyle/>
          <a:p>
            <a:pPr algn="l">
              <a:lnSpc>
                <a:spcPts val="4606"/>
              </a:lnSpc>
              <a:spcBef>
                <a:spcPct val="0"/>
              </a:spcBef>
            </a:pPr>
            <a:r>
              <a:rPr lang="en-US" b="true" sz="2897">
                <a:solidFill>
                  <a:srgbClr val="1F407A"/>
                </a:solidFill>
                <a:latin typeface="Montserrat Bold"/>
                <a:ea typeface="Montserrat Bold"/>
                <a:cs typeface="Montserrat Bold"/>
                <a:sym typeface="Montserrat Bold"/>
              </a:rPr>
              <a:t>Độ bao phủ lớp kiểm thử FaceEmotionViewModel</a:t>
            </a:r>
          </a:p>
        </p:txBody>
      </p:sp>
      <p:sp>
        <p:nvSpPr>
          <p:cNvPr name="TextBox 10" id="10"/>
          <p:cNvSpPr txBox="true"/>
          <p:nvPr/>
        </p:nvSpPr>
        <p:spPr>
          <a:xfrm rot="0">
            <a:off x="622021" y="4171245"/>
            <a:ext cx="4265047" cy="2711785"/>
          </a:xfrm>
          <a:prstGeom prst="rect">
            <a:avLst/>
          </a:prstGeom>
        </p:spPr>
        <p:txBody>
          <a:bodyPr anchor="t" rtlCol="false" tIns="0" lIns="0" bIns="0" rIns="0">
            <a:spAutoFit/>
          </a:bodyPr>
          <a:lstStyle/>
          <a:p>
            <a:pPr algn="l">
              <a:lnSpc>
                <a:spcPts val="4300"/>
              </a:lnSpc>
            </a:pPr>
            <a:r>
              <a:rPr lang="en-US" sz="3739" spc="183">
                <a:solidFill>
                  <a:srgbClr val="1F407A"/>
                </a:solidFill>
                <a:latin typeface="Montserrat"/>
                <a:ea typeface="Montserrat"/>
                <a:cs typeface="Montserrat"/>
                <a:sym typeface="Montserrat"/>
              </a:rPr>
              <a:t>Độ bao phủ:</a:t>
            </a:r>
          </a:p>
          <a:p>
            <a:pPr algn="l" marL="807429" indent="-403714" lvl="1">
              <a:lnSpc>
                <a:spcPts val="4300"/>
              </a:lnSpc>
              <a:buFont typeface="Arial"/>
              <a:buChar char="•"/>
            </a:pPr>
            <a:r>
              <a:rPr lang="en-US" sz="3739" spc="183">
                <a:solidFill>
                  <a:srgbClr val="1F407A"/>
                </a:solidFill>
                <a:latin typeface="Montserrat"/>
                <a:ea typeface="Montserrat"/>
                <a:cs typeface="Montserrat"/>
                <a:sym typeface="Montserrat"/>
              </a:rPr>
              <a:t>Lớp: 100%</a:t>
            </a:r>
          </a:p>
          <a:p>
            <a:pPr algn="l" marL="807429" indent="-403714" lvl="1">
              <a:lnSpc>
                <a:spcPts val="4300"/>
              </a:lnSpc>
              <a:buFont typeface="Arial"/>
              <a:buChar char="•"/>
            </a:pPr>
            <a:r>
              <a:rPr lang="en-US" sz="3739" spc="183">
                <a:solidFill>
                  <a:srgbClr val="1F407A"/>
                </a:solidFill>
                <a:latin typeface="Montserrat"/>
                <a:ea typeface="Montserrat"/>
                <a:cs typeface="Montserrat"/>
                <a:sym typeface="Montserrat"/>
              </a:rPr>
              <a:t>Hàm: 100%</a:t>
            </a:r>
          </a:p>
          <a:p>
            <a:pPr algn="l" marL="807429" indent="-403714" lvl="1">
              <a:lnSpc>
                <a:spcPts val="4300"/>
              </a:lnSpc>
              <a:buFont typeface="Arial"/>
              <a:buChar char="•"/>
            </a:pPr>
            <a:r>
              <a:rPr lang="en-US" sz="3739" spc="183">
                <a:solidFill>
                  <a:srgbClr val="1F407A"/>
                </a:solidFill>
                <a:latin typeface="Montserrat"/>
                <a:ea typeface="Montserrat"/>
                <a:cs typeface="Montserrat"/>
                <a:sym typeface="Montserrat"/>
              </a:rPr>
              <a:t>Nhánh: 75.7%</a:t>
            </a:r>
          </a:p>
          <a:p>
            <a:pPr algn="l" marL="807429" indent="-403714" lvl="1">
              <a:lnSpc>
                <a:spcPts val="4300"/>
              </a:lnSpc>
              <a:spcBef>
                <a:spcPct val="0"/>
              </a:spcBef>
              <a:buFont typeface="Arial"/>
              <a:buChar char="•"/>
            </a:pPr>
            <a:r>
              <a:rPr lang="en-US" sz="3739" spc="183">
                <a:solidFill>
                  <a:srgbClr val="1F407A"/>
                </a:solidFill>
                <a:latin typeface="Montserrat"/>
                <a:ea typeface="Montserrat"/>
                <a:cs typeface="Montserrat"/>
                <a:sym typeface="Montserrat"/>
              </a:rPr>
              <a:t>Dòng: 100%</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grpSp>
        <p:nvGrpSpPr>
          <p:cNvPr name="Group 6" id="6"/>
          <p:cNvGrpSpPr/>
          <p:nvPr/>
        </p:nvGrpSpPr>
        <p:grpSpPr>
          <a:xfrm rot="0">
            <a:off x="3794055" y="3147934"/>
            <a:ext cx="11548146" cy="7129855"/>
            <a:chOff x="0" y="0"/>
            <a:chExt cx="1556385" cy="960916"/>
          </a:xfrm>
        </p:grpSpPr>
        <p:sp>
          <p:nvSpPr>
            <p:cNvPr name="Freeform 7" id="7"/>
            <p:cNvSpPr/>
            <p:nvPr/>
          </p:nvSpPr>
          <p:spPr>
            <a:xfrm flipH="false" flipV="false" rot="0">
              <a:off x="0" y="0"/>
              <a:ext cx="1556385" cy="960916"/>
            </a:xfrm>
            <a:custGeom>
              <a:avLst/>
              <a:gdLst/>
              <a:ahLst/>
              <a:cxnLst/>
              <a:rect r="r" b="b" t="t" l="l"/>
              <a:pathLst>
                <a:path h="960916" w="1556385">
                  <a:moveTo>
                    <a:pt x="15419" y="0"/>
                  </a:moveTo>
                  <a:lnTo>
                    <a:pt x="1540966" y="0"/>
                  </a:lnTo>
                  <a:cubicBezTo>
                    <a:pt x="1549481" y="0"/>
                    <a:pt x="1556385" y="6903"/>
                    <a:pt x="1556385" y="15419"/>
                  </a:cubicBezTo>
                  <a:lnTo>
                    <a:pt x="1556385" y="945497"/>
                  </a:lnTo>
                  <a:cubicBezTo>
                    <a:pt x="1556385" y="949586"/>
                    <a:pt x="1554760" y="953508"/>
                    <a:pt x="1551869" y="956400"/>
                  </a:cubicBezTo>
                  <a:cubicBezTo>
                    <a:pt x="1548977" y="959292"/>
                    <a:pt x="1545055" y="960916"/>
                    <a:pt x="1540966" y="960916"/>
                  </a:cubicBezTo>
                  <a:lnTo>
                    <a:pt x="15419" y="960916"/>
                  </a:lnTo>
                  <a:cubicBezTo>
                    <a:pt x="11330" y="960916"/>
                    <a:pt x="7408" y="959292"/>
                    <a:pt x="4516" y="956400"/>
                  </a:cubicBezTo>
                  <a:cubicBezTo>
                    <a:pt x="1625" y="953508"/>
                    <a:pt x="0" y="949586"/>
                    <a:pt x="0" y="945497"/>
                  </a:cubicBezTo>
                  <a:lnTo>
                    <a:pt x="0" y="15419"/>
                  </a:lnTo>
                  <a:cubicBezTo>
                    <a:pt x="0" y="11330"/>
                    <a:pt x="1625" y="7408"/>
                    <a:pt x="4516" y="4516"/>
                  </a:cubicBezTo>
                  <a:cubicBezTo>
                    <a:pt x="7408" y="1625"/>
                    <a:pt x="11330" y="0"/>
                    <a:pt x="15419" y="0"/>
                  </a:cubicBezTo>
                  <a:close/>
                </a:path>
              </a:pathLst>
            </a:custGeom>
            <a:blipFill>
              <a:blip r:embed="rId4"/>
              <a:stretch>
                <a:fillRect l="-306" t="0" r="-306" b="0"/>
              </a:stretch>
            </a:blipFill>
          </p:spPr>
        </p:sp>
      </p:grpSp>
      <p:sp>
        <p:nvSpPr>
          <p:cNvPr name="TextBox 8" id="8"/>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KẾT QUẢ KIỂM THỬ</a:t>
            </a:r>
          </a:p>
        </p:txBody>
      </p:sp>
      <p:sp>
        <p:nvSpPr>
          <p:cNvPr name="TextBox 9" id="9"/>
          <p:cNvSpPr txBox="true"/>
          <p:nvPr/>
        </p:nvSpPr>
        <p:spPr>
          <a:xfrm rot="0">
            <a:off x="622021" y="2243374"/>
            <a:ext cx="9615540" cy="542296"/>
          </a:xfrm>
          <a:prstGeom prst="rect">
            <a:avLst/>
          </a:prstGeom>
        </p:spPr>
        <p:txBody>
          <a:bodyPr anchor="t" rtlCol="false" tIns="0" lIns="0" bIns="0" rIns="0">
            <a:spAutoFit/>
          </a:bodyPr>
          <a:lstStyle/>
          <a:p>
            <a:pPr algn="l">
              <a:lnSpc>
                <a:spcPts val="4606"/>
              </a:lnSpc>
              <a:spcBef>
                <a:spcPct val="0"/>
              </a:spcBef>
            </a:pPr>
            <a:r>
              <a:rPr lang="en-US" b="true" sz="2897">
                <a:solidFill>
                  <a:srgbClr val="1F407A"/>
                </a:solidFill>
                <a:latin typeface="Montserrat Bold"/>
                <a:ea typeface="Montserrat Bold"/>
                <a:cs typeface="Montserrat Bold"/>
                <a:sym typeface="Montserrat Bold"/>
              </a:rPr>
              <a:t>Lớp kiểm thử AudioViewModelTest</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grpSp>
        <p:nvGrpSpPr>
          <p:cNvPr name="Group 6" id="6"/>
          <p:cNvGrpSpPr/>
          <p:nvPr/>
        </p:nvGrpSpPr>
        <p:grpSpPr>
          <a:xfrm rot="0">
            <a:off x="6593046" y="3715297"/>
            <a:ext cx="10123619" cy="1645346"/>
            <a:chOff x="0" y="0"/>
            <a:chExt cx="1364396" cy="221749"/>
          </a:xfrm>
        </p:grpSpPr>
        <p:sp>
          <p:nvSpPr>
            <p:cNvPr name="Freeform 7" id="7"/>
            <p:cNvSpPr/>
            <p:nvPr/>
          </p:nvSpPr>
          <p:spPr>
            <a:xfrm flipH="false" flipV="false" rot="0">
              <a:off x="0" y="0"/>
              <a:ext cx="1364396" cy="221749"/>
            </a:xfrm>
            <a:custGeom>
              <a:avLst/>
              <a:gdLst/>
              <a:ahLst/>
              <a:cxnLst/>
              <a:rect r="r" b="b" t="t" l="l"/>
              <a:pathLst>
                <a:path h="221749" w="1364396">
                  <a:moveTo>
                    <a:pt x="17589" y="0"/>
                  </a:moveTo>
                  <a:lnTo>
                    <a:pt x="1346808" y="0"/>
                  </a:lnTo>
                  <a:cubicBezTo>
                    <a:pt x="1356522" y="0"/>
                    <a:pt x="1364396" y="7875"/>
                    <a:pt x="1364396" y="17589"/>
                  </a:cubicBezTo>
                  <a:lnTo>
                    <a:pt x="1364396" y="204160"/>
                  </a:lnTo>
                  <a:cubicBezTo>
                    <a:pt x="1364396" y="208825"/>
                    <a:pt x="1362543" y="213299"/>
                    <a:pt x="1359245" y="216597"/>
                  </a:cubicBezTo>
                  <a:cubicBezTo>
                    <a:pt x="1355946" y="219896"/>
                    <a:pt x="1351472" y="221749"/>
                    <a:pt x="1346808" y="221749"/>
                  </a:cubicBezTo>
                  <a:lnTo>
                    <a:pt x="17589" y="221749"/>
                  </a:lnTo>
                  <a:cubicBezTo>
                    <a:pt x="7875" y="221749"/>
                    <a:pt x="0" y="213874"/>
                    <a:pt x="0" y="204160"/>
                  </a:cubicBezTo>
                  <a:lnTo>
                    <a:pt x="0" y="17589"/>
                  </a:lnTo>
                  <a:cubicBezTo>
                    <a:pt x="0" y="7875"/>
                    <a:pt x="7875" y="0"/>
                    <a:pt x="17589" y="0"/>
                  </a:cubicBezTo>
                  <a:close/>
                </a:path>
              </a:pathLst>
            </a:custGeom>
            <a:blipFill>
              <a:blip r:embed="rId4"/>
              <a:stretch>
                <a:fillRect l="0" t="0" r="0" b="-335448"/>
              </a:stretch>
            </a:blipFill>
          </p:spPr>
        </p:sp>
      </p:grpSp>
      <p:sp>
        <p:nvSpPr>
          <p:cNvPr name="TextBox 8" id="8"/>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KẾT QUẢ KIỂM THỬ</a:t>
            </a:r>
          </a:p>
        </p:txBody>
      </p:sp>
      <p:sp>
        <p:nvSpPr>
          <p:cNvPr name="TextBox 9" id="9"/>
          <p:cNvSpPr txBox="true"/>
          <p:nvPr/>
        </p:nvSpPr>
        <p:spPr>
          <a:xfrm rot="0">
            <a:off x="622021" y="2243374"/>
            <a:ext cx="9615540" cy="542296"/>
          </a:xfrm>
          <a:prstGeom prst="rect">
            <a:avLst/>
          </a:prstGeom>
        </p:spPr>
        <p:txBody>
          <a:bodyPr anchor="t" rtlCol="false" tIns="0" lIns="0" bIns="0" rIns="0">
            <a:spAutoFit/>
          </a:bodyPr>
          <a:lstStyle/>
          <a:p>
            <a:pPr algn="l">
              <a:lnSpc>
                <a:spcPts val="4606"/>
              </a:lnSpc>
              <a:spcBef>
                <a:spcPct val="0"/>
              </a:spcBef>
            </a:pPr>
            <a:r>
              <a:rPr lang="en-US" b="true" sz="2897">
                <a:solidFill>
                  <a:srgbClr val="1F407A"/>
                </a:solidFill>
                <a:latin typeface="Montserrat Bold"/>
                <a:ea typeface="Montserrat Bold"/>
                <a:cs typeface="Montserrat Bold"/>
                <a:sym typeface="Montserrat Bold"/>
              </a:rPr>
              <a:t>Độ bao phủ lớp kiểm thử AudioViewModelTest</a:t>
            </a:r>
          </a:p>
        </p:txBody>
      </p:sp>
      <p:sp>
        <p:nvSpPr>
          <p:cNvPr name="TextBox 10" id="10"/>
          <p:cNvSpPr txBox="true"/>
          <p:nvPr/>
        </p:nvSpPr>
        <p:spPr>
          <a:xfrm rot="0">
            <a:off x="1718922" y="3358025"/>
            <a:ext cx="13497223" cy="4891023"/>
          </a:xfrm>
          <a:prstGeom prst="rect">
            <a:avLst/>
          </a:prstGeom>
        </p:spPr>
        <p:txBody>
          <a:bodyPr anchor="t" rtlCol="false" tIns="0" lIns="0" bIns="0" rIns="0">
            <a:spAutoFit/>
          </a:bodyPr>
          <a:lstStyle/>
          <a:p>
            <a:pPr algn="l">
              <a:lnSpc>
                <a:spcPts val="4300"/>
              </a:lnSpc>
            </a:pPr>
            <a:r>
              <a:rPr lang="en-US" sz="3739" spc="183">
                <a:solidFill>
                  <a:srgbClr val="1F407A"/>
                </a:solidFill>
                <a:latin typeface="Montserrat"/>
                <a:ea typeface="Montserrat"/>
                <a:cs typeface="Montserrat"/>
                <a:sym typeface="Montserrat"/>
              </a:rPr>
              <a:t>Độ bao phủ:</a:t>
            </a:r>
          </a:p>
          <a:p>
            <a:pPr algn="l" marL="807429" indent="-403715" lvl="1">
              <a:lnSpc>
                <a:spcPts val="4300"/>
              </a:lnSpc>
              <a:buFont typeface="Arial"/>
              <a:buChar char="•"/>
            </a:pPr>
            <a:r>
              <a:rPr lang="en-US" sz="3739" spc="183">
                <a:solidFill>
                  <a:srgbClr val="1F407A"/>
                </a:solidFill>
                <a:latin typeface="Montserrat"/>
                <a:ea typeface="Montserrat"/>
                <a:cs typeface="Montserrat"/>
                <a:sym typeface="Montserrat"/>
              </a:rPr>
              <a:t>Hàm: 72.7%</a:t>
            </a:r>
          </a:p>
          <a:p>
            <a:pPr algn="l" marL="807429" indent="-403715" lvl="1">
              <a:lnSpc>
                <a:spcPts val="4300"/>
              </a:lnSpc>
              <a:buFont typeface="Arial"/>
              <a:buChar char="•"/>
            </a:pPr>
            <a:r>
              <a:rPr lang="en-US" sz="3739" spc="183">
                <a:solidFill>
                  <a:srgbClr val="1F407A"/>
                </a:solidFill>
                <a:latin typeface="Montserrat"/>
                <a:ea typeface="Montserrat"/>
                <a:cs typeface="Montserrat"/>
                <a:sym typeface="Montserrat"/>
              </a:rPr>
              <a:t>Nhánh: 87.5%</a:t>
            </a:r>
          </a:p>
          <a:p>
            <a:pPr algn="l" marL="807429" indent="-403715" lvl="1">
              <a:lnSpc>
                <a:spcPts val="4300"/>
              </a:lnSpc>
              <a:spcBef>
                <a:spcPct val="0"/>
              </a:spcBef>
              <a:buFont typeface="Arial"/>
              <a:buChar char="•"/>
            </a:pPr>
            <a:r>
              <a:rPr lang="en-US" sz="3739" spc="183">
                <a:solidFill>
                  <a:srgbClr val="1F407A"/>
                </a:solidFill>
                <a:latin typeface="Montserrat"/>
                <a:ea typeface="Montserrat"/>
                <a:cs typeface="Montserrat"/>
                <a:sym typeface="Montserrat"/>
              </a:rPr>
              <a:t>Dòng: 65.2%</a:t>
            </a:r>
          </a:p>
          <a:p>
            <a:pPr algn="l">
              <a:lnSpc>
                <a:spcPts val="4300"/>
              </a:lnSpc>
              <a:spcBef>
                <a:spcPct val="0"/>
              </a:spcBef>
            </a:pPr>
          </a:p>
          <a:p>
            <a:pPr algn="l">
              <a:lnSpc>
                <a:spcPts val="4300"/>
              </a:lnSpc>
              <a:spcBef>
                <a:spcPct val="0"/>
              </a:spcBef>
            </a:pPr>
            <a:r>
              <a:rPr lang="en-US" sz="3739" b="true">
                <a:solidFill>
                  <a:srgbClr val="1F407A"/>
                </a:solidFill>
                <a:latin typeface="Asap Bold"/>
                <a:ea typeface="Asap Bold"/>
                <a:cs typeface="Asap Bold"/>
                <a:sym typeface="Asap Bold"/>
              </a:rPr>
              <a:t>Độ bao phủ của lớp test audio còn chưa tốt vì trong phạm vi của </a:t>
            </a:r>
          </a:p>
          <a:p>
            <a:pPr algn="l">
              <a:lnSpc>
                <a:spcPts val="4300"/>
              </a:lnSpc>
              <a:spcBef>
                <a:spcPct val="0"/>
              </a:spcBef>
            </a:pPr>
            <a:r>
              <a:rPr lang="en-US" sz="3739" b="true">
                <a:solidFill>
                  <a:srgbClr val="1F407A"/>
                </a:solidFill>
                <a:latin typeface="Asap Bold"/>
                <a:ea typeface="Asap Bold"/>
                <a:cs typeface="Asap Bold"/>
                <a:sym typeface="Asap Bold"/>
              </a:rPr>
              <a:t>Unit test, MediaSessionService và Exoplayer trong Android cho </a:t>
            </a:r>
          </a:p>
          <a:p>
            <a:pPr algn="l">
              <a:lnSpc>
                <a:spcPts val="4300"/>
              </a:lnSpc>
              <a:spcBef>
                <a:spcPct val="0"/>
              </a:spcBef>
            </a:pPr>
            <a:r>
              <a:rPr lang="en-US" sz="3739" b="true">
                <a:solidFill>
                  <a:srgbClr val="1F407A"/>
                </a:solidFill>
                <a:latin typeface="Asap Bold"/>
                <a:ea typeface="Asap Bold"/>
                <a:cs typeface="Asap Bold"/>
                <a:sym typeface="Asap Bold"/>
              </a:rPr>
              <a:t>việc phát nhạc còn nhiều khó khăn để mock, chỉ có thể test khi </a:t>
            </a:r>
          </a:p>
          <a:p>
            <a:pPr algn="l">
              <a:lnSpc>
                <a:spcPts val="4300"/>
              </a:lnSpc>
              <a:spcBef>
                <a:spcPct val="0"/>
              </a:spcBef>
            </a:pPr>
            <a:r>
              <a:rPr lang="en-US" sz="3739" b="true">
                <a:solidFill>
                  <a:srgbClr val="1F407A"/>
                </a:solidFill>
                <a:latin typeface="Asap Bold"/>
                <a:ea typeface="Asap Bold"/>
                <a:cs typeface="Asap Bold"/>
                <a:sym typeface="Asap Bold"/>
              </a:rPr>
              <a:t>chạy trên máy ảo</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grpSp>
        <p:nvGrpSpPr>
          <p:cNvPr name="Group 6" id="6"/>
          <p:cNvGrpSpPr/>
          <p:nvPr/>
        </p:nvGrpSpPr>
        <p:grpSpPr>
          <a:xfrm rot="0">
            <a:off x="3893601" y="3157145"/>
            <a:ext cx="10500797" cy="7492119"/>
            <a:chOff x="0" y="0"/>
            <a:chExt cx="1415230" cy="1009740"/>
          </a:xfrm>
        </p:grpSpPr>
        <p:sp>
          <p:nvSpPr>
            <p:cNvPr name="Freeform 7" id="7"/>
            <p:cNvSpPr/>
            <p:nvPr/>
          </p:nvSpPr>
          <p:spPr>
            <a:xfrm flipH="false" flipV="false" rot="0">
              <a:off x="0" y="0"/>
              <a:ext cx="1415230" cy="1009740"/>
            </a:xfrm>
            <a:custGeom>
              <a:avLst/>
              <a:gdLst/>
              <a:ahLst/>
              <a:cxnLst/>
              <a:rect r="r" b="b" t="t" l="l"/>
              <a:pathLst>
                <a:path h="1009740" w="1415230">
                  <a:moveTo>
                    <a:pt x="16957" y="0"/>
                  </a:moveTo>
                  <a:lnTo>
                    <a:pt x="1398273" y="0"/>
                  </a:lnTo>
                  <a:cubicBezTo>
                    <a:pt x="1407638" y="0"/>
                    <a:pt x="1415230" y="7592"/>
                    <a:pt x="1415230" y="16957"/>
                  </a:cubicBezTo>
                  <a:lnTo>
                    <a:pt x="1415230" y="992783"/>
                  </a:lnTo>
                  <a:cubicBezTo>
                    <a:pt x="1415230" y="997280"/>
                    <a:pt x="1413443" y="1001593"/>
                    <a:pt x="1410263" y="1004773"/>
                  </a:cubicBezTo>
                  <a:cubicBezTo>
                    <a:pt x="1407083" y="1007953"/>
                    <a:pt x="1402770" y="1009740"/>
                    <a:pt x="1398273" y="1009740"/>
                  </a:cubicBezTo>
                  <a:lnTo>
                    <a:pt x="16957" y="1009740"/>
                  </a:lnTo>
                  <a:cubicBezTo>
                    <a:pt x="12460" y="1009740"/>
                    <a:pt x="8147" y="1007953"/>
                    <a:pt x="4967" y="1004773"/>
                  </a:cubicBezTo>
                  <a:cubicBezTo>
                    <a:pt x="1787" y="1001593"/>
                    <a:pt x="0" y="997280"/>
                    <a:pt x="0" y="992783"/>
                  </a:cubicBezTo>
                  <a:lnTo>
                    <a:pt x="0" y="16957"/>
                  </a:lnTo>
                  <a:cubicBezTo>
                    <a:pt x="0" y="12460"/>
                    <a:pt x="1787" y="8147"/>
                    <a:pt x="4967" y="4967"/>
                  </a:cubicBezTo>
                  <a:cubicBezTo>
                    <a:pt x="8147" y="1787"/>
                    <a:pt x="12460" y="0"/>
                    <a:pt x="16957" y="0"/>
                  </a:cubicBezTo>
                  <a:close/>
                </a:path>
              </a:pathLst>
            </a:custGeom>
            <a:blipFill>
              <a:blip r:embed="rId4"/>
              <a:stretch>
                <a:fillRect l="-1406" t="0" r="-1406" b="0"/>
              </a:stretch>
            </a:blipFill>
          </p:spPr>
        </p:sp>
      </p:grpSp>
      <p:sp>
        <p:nvSpPr>
          <p:cNvPr name="TextBox 8" id="8"/>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KẾT QUẢ KIỂM THỬ</a:t>
            </a:r>
          </a:p>
        </p:txBody>
      </p:sp>
      <p:sp>
        <p:nvSpPr>
          <p:cNvPr name="TextBox 9" id="9"/>
          <p:cNvSpPr txBox="true"/>
          <p:nvPr/>
        </p:nvSpPr>
        <p:spPr>
          <a:xfrm rot="0">
            <a:off x="622021" y="2243374"/>
            <a:ext cx="9615540" cy="542296"/>
          </a:xfrm>
          <a:prstGeom prst="rect">
            <a:avLst/>
          </a:prstGeom>
        </p:spPr>
        <p:txBody>
          <a:bodyPr anchor="t" rtlCol="false" tIns="0" lIns="0" bIns="0" rIns="0">
            <a:spAutoFit/>
          </a:bodyPr>
          <a:lstStyle/>
          <a:p>
            <a:pPr algn="l">
              <a:lnSpc>
                <a:spcPts val="4606"/>
              </a:lnSpc>
              <a:spcBef>
                <a:spcPct val="0"/>
              </a:spcBef>
            </a:pPr>
            <a:r>
              <a:rPr lang="en-US" b="true" sz="2897">
                <a:solidFill>
                  <a:srgbClr val="1F407A"/>
                </a:solidFill>
                <a:latin typeface="Montserrat Bold"/>
                <a:ea typeface="Montserrat Bold"/>
                <a:cs typeface="Montserrat Bold"/>
                <a:sym typeface="Montserrat Bold"/>
              </a:rPr>
              <a:t>Lớp kiểm thử AuthViewModelTest</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3147934"/>
            <a:ext cx="18288000" cy="7139066"/>
            <a:chOff x="0" y="0"/>
            <a:chExt cx="4816593" cy="1880248"/>
          </a:xfrm>
        </p:grpSpPr>
        <p:sp>
          <p:nvSpPr>
            <p:cNvPr name="Freeform 4" id="4"/>
            <p:cNvSpPr/>
            <p:nvPr/>
          </p:nvSpPr>
          <p:spPr>
            <a:xfrm flipH="false" flipV="false" rot="0">
              <a:off x="0" y="0"/>
              <a:ext cx="4816592" cy="1880248"/>
            </a:xfrm>
            <a:custGeom>
              <a:avLst/>
              <a:gdLst/>
              <a:ahLst/>
              <a:cxnLst/>
              <a:rect r="r" b="b" t="t" l="l"/>
              <a:pathLst>
                <a:path h="1880248" w="4816592">
                  <a:moveTo>
                    <a:pt x="0" y="0"/>
                  </a:moveTo>
                  <a:lnTo>
                    <a:pt x="4816592" y="0"/>
                  </a:lnTo>
                  <a:lnTo>
                    <a:pt x="4816592" y="1880248"/>
                  </a:lnTo>
                  <a:lnTo>
                    <a:pt x="0" y="1880248"/>
                  </a:lnTo>
                  <a:close/>
                </a:path>
              </a:pathLst>
            </a:custGeom>
            <a:solidFill>
              <a:srgbClr val="FFFFFF"/>
            </a:solidFill>
          </p:spPr>
        </p:sp>
        <p:sp>
          <p:nvSpPr>
            <p:cNvPr name="TextBox 5" id="5"/>
            <p:cNvSpPr txBox="true"/>
            <p:nvPr/>
          </p:nvSpPr>
          <p:spPr>
            <a:xfrm>
              <a:off x="0" y="-66675"/>
              <a:ext cx="4816593" cy="1946923"/>
            </a:xfrm>
            <a:prstGeom prst="rect">
              <a:avLst/>
            </a:prstGeom>
          </p:spPr>
          <p:txBody>
            <a:bodyPr anchor="ctr" rtlCol="false" tIns="50800" lIns="50800" bIns="50800" rIns="50800"/>
            <a:lstStyle/>
            <a:p>
              <a:pPr algn="ctr">
                <a:lnSpc>
                  <a:spcPts val="3175"/>
                </a:lnSpc>
              </a:pPr>
            </a:p>
          </p:txBody>
        </p:sp>
      </p:grpSp>
      <p:grpSp>
        <p:nvGrpSpPr>
          <p:cNvPr name="Group 6" id="6"/>
          <p:cNvGrpSpPr/>
          <p:nvPr/>
        </p:nvGrpSpPr>
        <p:grpSpPr>
          <a:xfrm rot="0">
            <a:off x="4309397" y="4430211"/>
            <a:ext cx="13978603" cy="2448865"/>
            <a:chOff x="0" y="0"/>
            <a:chExt cx="1883946" cy="330042"/>
          </a:xfrm>
        </p:grpSpPr>
        <p:sp>
          <p:nvSpPr>
            <p:cNvPr name="Freeform 7" id="7"/>
            <p:cNvSpPr/>
            <p:nvPr/>
          </p:nvSpPr>
          <p:spPr>
            <a:xfrm flipH="false" flipV="false" rot="0">
              <a:off x="0" y="0"/>
              <a:ext cx="1883946" cy="330042"/>
            </a:xfrm>
            <a:custGeom>
              <a:avLst/>
              <a:gdLst/>
              <a:ahLst/>
              <a:cxnLst/>
              <a:rect r="r" b="b" t="t" l="l"/>
              <a:pathLst>
                <a:path h="330042" w="1883946">
                  <a:moveTo>
                    <a:pt x="12738" y="0"/>
                  </a:moveTo>
                  <a:lnTo>
                    <a:pt x="1871208" y="0"/>
                  </a:lnTo>
                  <a:cubicBezTo>
                    <a:pt x="1874587" y="0"/>
                    <a:pt x="1877827" y="1342"/>
                    <a:pt x="1880215" y="3731"/>
                  </a:cubicBezTo>
                  <a:cubicBezTo>
                    <a:pt x="1882604" y="6120"/>
                    <a:pt x="1883946" y="9360"/>
                    <a:pt x="1883946" y="12738"/>
                  </a:cubicBezTo>
                  <a:lnTo>
                    <a:pt x="1883946" y="317304"/>
                  </a:lnTo>
                  <a:cubicBezTo>
                    <a:pt x="1883946" y="320682"/>
                    <a:pt x="1882604" y="323922"/>
                    <a:pt x="1880215" y="326311"/>
                  </a:cubicBezTo>
                  <a:cubicBezTo>
                    <a:pt x="1877827" y="328700"/>
                    <a:pt x="1874587" y="330042"/>
                    <a:pt x="1871208" y="330042"/>
                  </a:cubicBezTo>
                  <a:lnTo>
                    <a:pt x="12738" y="330042"/>
                  </a:lnTo>
                  <a:cubicBezTo>
                    <a:pt x="9360" y="330042"/>
                    <a:pt x="6120" y="328700"/>
                    <a:pt x="3731" y="326311"/>
                  </a:cubicBezTo>
                  <a:cubicBezTo>
                    <a:pt x="1342" y="323922"/>
                    <a:pt x="0" y="320682"/>
                    <a:pt x="0" y="317304"/>
                  </a:cubicBezTo>
                  <a:lnTo>
                    <a:pt x="0" y="12738"/>
                  </a:lnTo>
                  <a:cubicBezTo>
                    <a:pt x="0" y="9360"/>
                    <a:pt x="1342" y="6120"/>
                    <a:pt x="3731" y="3731"/>
                  </a:cubicBezTo>
                  <a:cubicBezTo>
                    <a:pt x="6120" y="1342"/>
                    <a:pt x="9360" y="0"/>
                    <a:pt x="12738" y="0"/>
                  </a:cubicBezTo>
                  <a:close/>
                </a:path>
              </a:pathLst>
            </a:custGeom>
            <a:blipFill>
              <a:blip r:embed="rId4"/>
              <a:stretch>
                <a:fillRect l="0" t="-4288" r="0" b="-288149"/>
              </a:stretch>
            </a:blipFill>
          </p:spPr>
        </p:sp>
      </p:grpSp>
      <p:sp>
        <p:nvSpPr>
          <p:cNvPr name="TextBox 8" id="8"/>
          <p:cNvSpPr txBox="true"/>
          <p:nvPr/>
        </p:nvSpPr>
        <p:spPr>
          <a:xfrm rot="0">
            <a:off x="890497" y="1261385"/>
            <a:ext cx="9883946" cy="717033"/>
          </a:xfrm>
          <a:prstGeom prst="rect">
            <a:avLst/>
          </a:prstGeom>
        </p:spPr>
        <p:txBody>
          <a:bodyPr anchor="t" rtlCol="false" tIns="0" lIns="0" bIns="0" rIns="0">
            <a:spAutoFit/>
          </a:bodyPr>
          <a:lstStyle/>
          <a:p>
            <a:pPr algn="l">
              <a:lnSpc>
                <a:spcPts val="5656"/>
              </a:lnSpc>
            </a:pPr>
            <a:r>
              <a:rPr lang="en-US" b="true" sz="4918" spc="241">
                <a:solidFill>
                  <a:srgbClr val="1F407A"/>
                </a:solidFill>
                <a:latin typeface="Montserrat Bold"/>
                <a:ea typeface="Montserrat Bold"/>
                <a:cs typeface="Montserrat Bold"/>
                <a:sym typeface="Montserrat Bold"/>
              </a:rPr>
              <a:t>KẾT QUẢ KIỂM THỬ</a:t>
            </a:r>
          </a:p>
        </p:txBody>
      </p:sp>
      <p:sp>
        <p:nvSpPr>
          <p:cNvPr name="TextBox 9" id="9"/>
          <p:cNvSpPr txBox="true"/>
          <p:nvPr/>
        </p:nvSpPr>
        <p:spPr>
          <a:xfrm rot="0">
            <a:off x="622021" y="2243374"/>
            <a:ext cx="9615540" cy="542296"/>
          </a:xfrm>
          <a:prstGeom prst="rect">
            <a:avLst/>
          </a:prstGeom>
        </p:spPr>
        <p:txBody>
          <a:bodyPr anchor="t" rtlCol="false" tIns="0" lIns="0" bIns="0" rIns="0">
            <a:spAutoFit/>
          </a:bodyPr>
          <a:lstStyle/>
          <a:p>
            <a:pPr algn="l">
              <a:lnSpc>
                <a:spcPts val="4606"/>
              </a:lnSpc>
              <a:spcBef>
                <a:spcPct val="0"/>
              </a:spcBef>
            </a:pPr>
            <a:r>
              <a:rPr lang="en-US" b="true" sz="2897">
                <a:solidFill>
                  <a:srgbClr val="1F407A"/>
                </a:solidFill>
                <a:latin typeface="Montserrat Bold"/>
                <a:ea typeface="Montserrat Bold"/>
                <a:cs typeface="Montserrat Bold"/>
                <a:sym typeface="Montserrat Bold"/>
              </a:rPr>
              <a:t>Độ bao phủ lớp kiểm thử AuthViewModelTest</a:t>
            </a:r>
          </a:p>
        </p:txBody>
      </p:sp>
      <p:sp>
        <p:nvSpPr>
          <p:cNvPr name="TextBox 10" id="10"/>
          <p:cNvSpPr txBox="true"/>
          <p:nvPr/>
        </p:nvSpPr>
        <p:spPr>
          <a:xfrm rot="0">
            <a:off x="622021" y="4449261"/>
            <a:ext cx="4312575" cy="2711785"/>
          </a:xfrm>
          <a:prstGeom prst="rect">
            <a:avLst/>
          </a:prstGeom>
        </p:spPr>
        <p:txBody>
          <a:bodyPr anchor="t" rtlCol="false" tIns="0" lIns="0" bIns="0" rIns="0">
            <a:spAutoFit/>
          </a:bodyPr>
          <a:lstStyle/>
          <a:p>
            <a:pPr algn="l">
              <a:lnSpc>
                <a:spcPts val="4300"/>
              </a:lnSpc>
            </a:pPr>
            <a:r>
              <a:rPr lang="en-US" sz="3739" spc="183">
                <a:solidFill>
                  <a:srgbClr val="1F407A"/>
                </a:solidFill>
                <a:latin typeface="Montserrat"/>
                <a:ea typeface="Montserrat"/>
                <a:cs typeface="Montserrat"/>
                <a:sym typeface="Montserrat"/>
              </a:rPr>
              <a:t>Độ bao phủ:</a:t>
            </a:r>
          </a:p>
          <a:p>
            <a:pPr algn="l" marL="807429" indent="-403714" lvl="1">
              <a:lnSpc>
                <a:spcPts val="4300"/>
              </a:lnSpc>
              <a:buFont typeface="Arial"/>
              <a:buChar char="•"/>
            </a:pPr>
            <a:r>
              <a:rPr lang="en-US" sz="3739" spc="183">
                <a:solidFill>
                  <a:srgbClr val="1F407A"/>
                </a:solidFill>
                <a:latin typeface="Montserrat"/>
                <a:ea typeface="Montserrat"/>
                <a:cs typeface="Montserrat"/>
                <a:sym typeface="Montserrat"/>
              </a:rPr>
              <a:t>Lớp: 100%</a:t>
            </a:r>
          </a:p>
          <a:p>
            <a:pPr algn="l" marL="807429" indent="-403714" lvl="1">
              <a:lnSpc>
                <a:spcPts val="4300"/>
              </a:lnSpc>
              <a:buFont typeface="Arial"/>
              <a:buChar char="•"/>
            </a:pPr>
            <a:r>
              <a:rPr lang="en-US" sz="3739" spc="183">
                <a:solidFill>
                  <a:srgbClr val="1F407A"/>
                </a:solidFill>
                <a:latin typeface="Montserrat"/>
                <a:ea typeface="Montserrat"/>
                <a:cs typeface="Montserrat"/>
                <a:sym typeface="Montserrat"/>
              </a:rPr>
              <a:t>Hàm: 93.3%</a:t>
            </a:r>
          </a:p>
          <a:p>
            <a:pPr algn="l" marL="807429" indent="-403714" lvl="1">
              <a:lnSpc>
                <a:spcPts val="4300"/>
              </a:lnSpc>
              <a:buFont typeface="Arial"/>
              <a:buChar char="•"/>
            </a:pPr>
            <a:r>
              <a:rPr lang="en-US" sz="3739" spc="183">
                <a:solidFill>
                  <a:srgbClr val="1F407A"/>
                </a:solidFill>
                <a:latin typeface="Montserrat"/>
                <a:ea typeface="Montserrat"/>
                <a:cs typeface="Montserrat"/>
                <a:sym typeface="Montserrat"/>
              </a:rPr>
              <a:t>Nhánh: 82.8%</a:t>
            </a:r>
          </a:p>
          <a:p>
            <a:pPr algn="l" marL="807429" indent="-403714" lvl="1">
              <a:lnSpc>
                <a:spcPts val="4300"/>
              </a:lnSpc>
              <a:spcBef>
                <a:spcPct val="0"/>
              </a:spcBef>
              <a:buFont typeface="Arial"/>
              <a:buChar char="•"/>
            </a:pPr>
            <a:r>
              <a:rPr lang="en-US" sz="3739" spc="183">
                <a:solidFill>
                  <a:srgbClr val="1F407A"/>
                </a:solidFill>
                <a:latin typeface="Montserrat"/>
                <a:ea typeface="Montserrat"/>
                <a:cs typeface="Montserrat"/>
                <a:sym typeface="Montserrat"/>
              </a:rPr>
              <a:t>Dòng: 97.1%</a:t>
            </a:r>
          </a:p>
        </p:txBody>
      </p:sp>
    </p:spTree>
  </p:cSld>
  <p:clrMapOvr>
    <a:masterClrMapping/>
  </p:clrMapOvr>
</p:sld>
</file>

<file path=ppt/slides/slide3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3210343"/>
            <a:chOff x="0" y="0"/>
            <a:chExt cx="4816593" cy="845522"/>
          </a:xfrm>
        </p:grpSpPr>
        <p:sp>
          <p:nvSpPr>
            <p:cNvPr name="Freeform 3" id="3"/>
            <p:cNvSpPr/>
            <p:nvPr/>
          </p:nvSpPr>
          <p:spPr>
            <a:xfrm flipH="false" flipV="false" rot="0">
              <a:off x="0" y="0"/>
              <a:ext cx="4816592" cy="845522"/>
            </a:xfrm>
            <a:custGeom>
              <a:avLst/>
              <a:gdLst/>
              <a:ahLst/>
              <a:cxnLst/>
              <a:rect r="r" b="b" t="t" l="l"/>
              <a:pathLst>
                <a:path h="845522" w="4816592">
                  <a:moveTo>
                    <a:pt x="0" y="0"/>
                  </a:moveTo>
                  <a:lnTo>
                    <a:pt x="4816592" y="0"/>
                  </a:lnTo>
                  <a:lnTo>
                    <a:pt x="4816592" y="845522"/>
                  </a:lnTo>
                  <a:lnTo>
                    <a:pt x="0" y="845522"/>
                  </a:lnTo>
                  <a:close/>
                </a:path>
              </a:pathLst>
            </a:custGeom>
            <a:solidFill>
              <a:srgbClr val="0D3B8A"/>
            </a:solidFill>
          </p:spPr>
        </p:sp>
        <p:sp>
          <p:nvSpPr>
            <p:cNvPr name="TextBox 4" id="4"/>
            <p:cNvSpPr txBox="true"/>
            <p:nvPr/>
          </p:nvSpPr>
          <p:spPr>
            <a:xfrm>
              <a:off x="0" y="-47625"/>
              <a:ext cx="4816593" cy="893147"/>
            </a:xfrm>
            <a:prstGeom prst="rect">
              <a:avLst/>
            </a:prstGeom>
          </p:spPr>
          <p:txBody>
            <a:bodyPr anchor="ctr" rtlCol="false" tIns="50800" lIns="50800" bIns="50800" rIns="50800"/>
            <a:lstStyle/>
            <a:p>
              <a:pPr algn="ctr">
                <a:lnSpc>
                  <a:spcPts val="3219"/>
                </a:lnSpc>
              </a:pPr>
            </a:p>
          </p:txBody>
        </p:sp>
      </p:grpSp>
      <p:sp>
        <p:nvSpPr>
          <p:cNvPr name="TextBox 5" id="5"/>
          <p:cNvSpPr txBox="true"/>
          <p:nvPr/>
        </p:nvSpPr>
        <p:spPr>
          <a:xfrm rot="0">
            <a:off x="3461492" y="1114893"/>
            <a:ext cx="12164523" cy="2139116"/>
          </a:xfrm>
          <a:prstGeom prst="rect">
            <a:avLst/>
          </a:prstGeom>
        </p:spPr>
        <p:txBody>
          <a:bodyPr anchor="t" rtlCol="false" tIns="0" lIns="0" bIns="0" rIns="0">
            <a:spAutoFit/>
          </a:bodyPr>
          <a:lstStyle/>
          <a:p>
            <a:pPr algn="ctr">
              <a:lnSpc>
                <a:spcPts val="8620"/>
              </a:lnSpc>
            </a:pPr>
            <a:r>
              <a:rPr lang="en-US" b="true" sz="6157" spc="301">
                <a:solidFill>
                  <a:srgbClr val="FFFFFF"/>
                </a:solidFill>
                <a:latin typeface="Montserrat Ultra-Bold"/>
                <a:ea typeface="Montserrat Ultra-Bold"/>
                <a:cs typeface="Montserrat Ultra-Bold"/>
                <a:sym typeface="Montserrat Ultra-Bold"/>
              </a:rPr>
              <a:t>THÁCH THỨC VÀ HẠN CHẾ</a:t>
            </a:r>
          </a:p>
          <a:p>
            <a:pPr algn="ctr">
              <a:lnSpc>
                <a:spcPts val="8620"/>
              </a:lnSpc>
              <a:spcBef>
                <a:spcPct val="0"/>
              </a:spcBef>
            </a:pPr>
          </a:p>
        </p:txBody>
      </p:sp>
      <p:sp>
        <p:nvSpPr>
          <p:cNvPr name="TextBox 6" id="6"/>
          <p:cNvSpPr txBox="true"/>
          <p:nvPr/>
        </p:nvSpPr>
        <p:spPr>
          <a:xfrm rot="0">
            <a:off x="1028700" y="3994209"/>
            <a:ext cx="16230600" cy="4645534"/>
          </a:xfrm>
          <a:prstGeom prst="rect">
            <a:avLst/>
          </a:prstGeom>
        </p:spPr>
        <p:txBody>
          <a:bodyPr anchor="t" rtlCol="false" tIns="0" lIns="0" bIns="0" rIns="0">
            <a:spAutoFit/>
          </a:bodyPr>
          <a:lstStyle/>
          <a:p>
            <a:pPr algn="just" marL="842005" indent="-421003" lvl="1">
              <a:lnSpc>
                <a:spcPts val="6200"/>
              </a:lnSpc>
              <a:buFont typeface="Arial"/>
              <a:buChar char="•"/>
            </a:pPr>
            <a:r>
              <a:rPr lang="en-US" b="true" sz="3899">
                <a:solidFill>
                  <a:srgbClr val="0D3B8A"/>
                </a:solidFill>
                <a:latin typeface="Montserrat Medium"/>
                <a:ea typeface="Montserrat Medium"/>
                <a:cs typeface="Montserrat Medium"/>
                <a:sym typeface="Montserrat Medium"/>
              </a:rPr>
              <a:t>Tích hợp trực tiếp vào hệ điều hành Android Automotive đòi hỏi nhiều thời gian và công sức.</a:t>
            </a:r>
          </a:p>
          <a:p>
            <a:pPr algn="just" marL="842005" indent="-421003" lvl="1">
              <a:lnSpc>
                <a:spcPts val="6200"/>
              </a:lnSpc>
              <a:buFont typeface="Arial"/>
              <a:buChar char="•"/>
            </a:pPr>
            <a:r>
              <a:rPr lang="en-US" b="true" sz="3899">
                <a:solidFill>
                  <a:srgbClr val="0D3B8A"/>
                </a:solidFill>
                <a:latin typeface="Montserrat Medium"/>
                <a:ea typeface="Montserrat Medium"/>
                <a:cs typeface="Montserrat Medium"/>
                <a:sym typeface="Montserrat Medium"/>
              </a:rPr>
              <a:t>Giải pháp: Xây dựng ứng dụng bên thứ ba (third-party app) để dễ dàng triển khai và demo.</a:t>
            </a:r>
          </a:p>
          <a:p>
            <a:pPr algn="just" marL="842005" indent="-421003" lvl="1">
              <a:lnSpc>
                <a:spcPts val="6200"/>
              </a:lnSpc>
              <a:buFont typeface="Arial"/>
              <a:buChar char="•"/>
            </a:pPr>
            <a:r>
              <a:rPr lang="en-US" b="true" sz="3899">
                <a:solidFill>
                  <a:srgbClr val="0D3B8A"/>
                </a:solidFill>
                <a:latin typeface="Montserrat Medium"/>
                <a:ea typeface="Montserrat Medium"/>
                <a:cs typeface="Montserrat Medium"/>
                <a:sym typeface="Montserrat Medium"/>
              </a:rPr>
              <a:t>Tối ưu hóa hiệu suất AI trên phần cứng hạn chế.</a:t>
            </a:r>
          </a:p>
          <a:p>
            <a:pPr algn="just">
              <a:lnSpc>
                <a:spcPts val="6200"/>
              </a:lnSpc>
            </a:pPr>
          </a:p>
        </p:txBody>
      </p:sp>
    </p:spTree>
  </p:cSld>
  <p:clrMapOvr>
    <a:masterClrMapping/>
  </p:clrMapOvr>
</p:sld>
</file>

<file path=ppt/slides/slide3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3210343"/>
            <a:ext cx="18288000" cy="7076657"/>
            <a:chOff x="0" y="0"/>
            <a:chExt cx="4816593" cy="1863811"/>
          </a:xfrm>
        </p:grpSpPr>
        <p:sp>
          <p:nvSpPr>
            <p:cNvPr name="Freeform 3" id="3"/>
            <p:cNvSpPr/>
            <p:nvPr/>
          </p:nvSpPr>
          <p:spPr>
            <a:xfrm flipH="false" flipV="false" rot="0">
              <a:off x="0" y="0"/>
              <a:ext cx="4816592" cy="1863811"/>
            </a:xfrm>
            <a:custGeom>
              <a:avLst/>
              <a:gdLst/>
              <a:ahLst/>
              <a:cxnLst/>
              <a:rect r="r" b="b" t="t" l="l"/>
              <a:pathLst>
                <a:path h="1863811" w="4816592">
                  <a:moveTo>
                    <a:pt x="0" y="0"/>
                  </a:moveTo>
                  <a:lnTo>
                    <a:pt x="4816592" y="0"/>
                  </a:lnTo>
                  <a:lnTo>
                    <a:pt x="4816592" y="1863811"/>
                  </a:lnTo>
                  <a:lnTo>
                    <a:pt x="0" y="1863811"/>
                  </a:lnTo>
                  <a:close/>
                </a:path>
              </a:pathLst>
            </a:custGeom>
            <a:solidFill>
              <a:srgbClr val="004AAD"/>
            </a:solidFill>
          </p:spPr>
        </p:sp>
        <p:sp>
          <p:nvSpPr>
            <p:cNvPr name="TextBox 4" id="4"/>
            <p:cNvSpPr txBox="true"/>
            <p:nvPr/>
          </p:nvSpPr>
          <p:spPr>
            <a:xfrm>
              <a:off x="0" y="-38100"/>
              <a:ext cx="4816593" cy="190191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26584" y="5031793"/>
            <a:ext cx="1021466" cy="1030562"/>
            <a:chOff x="0" y="0"/>
            <a:chExt cx="805626" cy="812800"/>
          </a:xfrm>
        </p:grpSpPr>
        <p:sp>
          <p:nvSpPr>
            <p:cNvPr name="Freeform 6" id="6"/>
            <p:cNvSpPr/>
            <p:nvPr/>
          </p:nvSpPr>
          <p:spPr>
            <a:xfrm flipH="false" flipV="false" rot="0">
              <a:off x="0" y="0"/>
              <a:ext cx="805626" cy="812800"/>
            </a:xfrm>
            <a:custGeom>
              <a:avLst/>
              <a:gdLst/>
              <a:ahLst/>
              <a:cxnLst/>
              <a:rect r="r" b="b" t="t" l="l"/>
              <a:pathLst>
                <a:path h="812800" w="805626">
                  <a:moveTo>
                    <a:pt x="402813" y="0"/>
                  </a:moveTo>
                  <a:cubicBezTo>
                    <a:pt x="180346" y="0"/>
                    <a:pt x="0" y="181951"/>
                    <a:pt x="0" y="406400"/>
                  </a:cubicBezTo>
                  <a:cubicBezTo>
                    <a:pt x="0" y="630849"/>
                    <a:pt x="180346" y="812800"/>
                    <a:pt x="402813" y="812800"/>
                  </a:cubicBezTo>
                  <a:cubicBezTo>
                    <a:pt x="625281" y="812800"/>
                    <a:pt x="805626" y="630849"/>
                    <a:pt x="805626" y="406400"/>
                  </a:cubicBezTo>
                  <a:cubicBezTo>
                    <a:pt x="805626" y="181951"/>
                    <a:pt x="625281" y="0"/>
                    <a:pt x="402813" y="0"/>
                  </a:cubicBezTo>
                  <a:close/>
                </a:path>
              </a:pathLst>
            </a:custGeom>
            <a:solidFill>
              <a:srgbClr val="FFFFFF"/>
            </a:solidFill>
          </p:spPr>
        </p:sp>
        <p:sp>
          <p:nvSpPr>
            <p:cNvPr name="TextBox 7" id="7"/>
            <p:cNvSpPr txBox="true"/>
            <p:nvPr/>
          </p:nvSpPr>
          <p:spPr>
            <a:xfrm>
              <a:off x="75527" y="28575"/>
              <a:ext cx="654571" cy="708025"/>
            </a:xfrm>
            <a:prstGeom prst="rect">
              <a:avLst/>
            </a:prstGeom>
          </p:spPr>
          <p:txBody>
            <a:bodyPr anchor="ctr" rtlCol="false" tIns="50800" lIns="50800" bIns="50800" rIns="50800"/>
            <a:lstStyle/>
            <a:p>
              <a:pPr algn="ctr">
                <a:lnSpc>
                  <a:spcPts val="3219"/>
                </a:lnSpc>
              </a:pPr>
              <a:r>
                <a:rPr lang="en-US" b="true" sz="2299">
                  <a:solidFill>
                    <a:srgbClr val="0D3B8A"/>
                  </a:solidFill>
                  <a:latin typeface="Montserrat Classic Bold"/>
                  <a:ea typeface="Montserrat Classic Bold"/>
                  <a:cs typeface="Montserrat Classic Bold"/>
                  <a:sym typeface="Montserrat Classic Bold"/>
                </a:rPr>
                <a:t>1</a:t>
              </a:r>
            </a:p>
          </p:txBody>
        </p:sp>
      </p:grpSp>
      <p:sp>
        <p:nvSpPr>
          <p:cNvPr name="TextBox 8" id="8"/>
          <p:cNvSpPr txBox="true"/>
          <p:nvPr/>
        </p:nvSpPr>
        <p:spPr>
          <a:xfrm rot="0">
            <a:off x="4000494" y="992083"/>
            <a:ext cx="10287012" cy="1501584"/>
          </a:xfrm>
          <a:prstGeom prst="rect">
            <a:avLst/>
          </a:prstGeom>
        </p:spPr>
        <p:txBody>
          <a:bodyPr anchor="t" rtlCol="false" tIns="0" lIns="0" bIns="0" rIns="0">
            <a:spAutoFit/>
          </a:bodyPr>
          <a:lstStyle/>
          <a:p>
            <a:pPr algn="ctr">
              <a:lnSpc>
                <a:spcPts val="12260"/>
              </a:lnSpc>
              <a:spcBef>
                <a:spcPct val="0"/>
              </a:spcBef>
            </a:pPr>
            <a:r>
              <a:rPr lang="en-US" b="true" sz="8757" spc="429">
                <a:solidFill>
                  <a:srgbClr val="0D3B8A"/>
                </a:solidFill>
                <a:latin typeface="Montserrat Bold"/>
                <a:ea typeface="Montserrat Bold"/>
                <a:cs typeface="Montserrat Bold"/>
                <a:sym typeface="Montserrat Bold"/>
              </a:rPr>
              <a:t>KẾT LUẬN</a:t>
            </a:r>
          </a:p>
        </p:txBody>
      </p:sp>
      <p:sp>
        <p:nvSpPr>
          <p:cNvPr name="TextBox 9" id="9"/>
          <p:cNvSpPr txBox="true"/>
          <p:nvPr/>
        </p:nvSpPr>
        <p:spPr>
          <a:xfrm rot="0">
            <a:off x="1624743" y="4998849"/>
            <a:ext cx="7273267" cy="2173483"/>
          </a:xfrm>
          <a:prstGeom prst="rect">
            <a:avLst/>
          </a:prstGeom>
        </p:spPr>
        <p:txBody>
          <a:bodyPr anchor="t" rtlCol="false" tIns="0" lIns="0" bIns="0" rIns="0">
            <a:spAutoFit/>
          </a:bodyPr>
          <a:lstStyle/>
          <a:p>
            <a:pPr algn="l">
              <a:lnSpc>
                <a:spcPts val="4376"/>
              </a:lnSpc>
            </a:pPr>
            <a:r>
              <a:rPr lang="en-US" sz="2752">
                <a:solidFill>
                  <a:srgbClr val="FFFFFF"/>
                </a:solidFill>
                <a:latin typeface="Montserrat"/>
                <a:ea typeface="Montserrat"/>
                <a:cs typeface="Montserrat"/>
                <a:sym typeface="Montserrat"/>
              </a:rPr>
              <a:t>VibeRide là kết hợp công nghệ AI và Android để mang lại cho người lái xe một hệ thống infortainment thông minh.</a:t>
            </a:r>
          </a:p>
          <a:p>
            <a:pPr algn="l">
              <a:lnSpc>
                <a:spcPts val="4376"/>
              </a:lnSpc>
            </a:pPr>
          </a:p>
        </p:txBody>
      </p:sp>
      <p:grpSp>
        <p:nvGrpSpPr>
          <p:cNvPr name="Group 10" id="10"/>
          <p:cNvGrpSpPr/>
          <p:nvPr/>
        </p:nvGrpSpPr>
        <p:grpSpPr>
          <a:xfrm rot="0">
            <a:off x="9571950" y="5031793"/>
            <a:ext cx="1021466" cy="1030562"/>
            <a:chOff x="0" y="0"/>
            <a:chExt cx="805626" cy="812800"/>
          </a:xfrm>
        </p:grpSpPr>
        <p:sp>
          <p:nvSpPr>
            <p:cNvPr name="Freeform 11" id="11"/>
            <p:cNvSpPr/>
            <p:nvPr/>
          </p:nvSpPr>
          <p:spPr>
            <a:xfrm flipH="false" flipV="false" rot="0">
              <a:off x="0" y="0"/>
              <a:ext cx="805626" cy="812800"/>
            </a:xfrm>
            <a:custGeom>
              <a:avLst/>
              <a:gdLst/>
              <a:ahLst/>
              <a:cxnLst/>
              <a:rect r="r" b="b" t="t" l="l"/>
              <a:pathLst>
                <a:path h="812800" w="805626">
                  <a:moveTo>
                    <a:pt x="402813" y="0"/>
                  </a:moveTo>
                  <a:cubicBezTo>
                    <a:pt x="180346" y="0"/>
                    <a:pt x="0" y="181951"/>
                    <a:pt x="0" y="406400"/>
                  </a:cubicBezTo>
                  <a:cubicBezTo>
                    <a:pt x="0" y="630849"/>
                    <a:pt x="180346" y="812800"/>
                    <a:pt x="402813" y="812800"/>
                  </a:cubicBezTo>
                  <a:cubicBezTo>
                    <a:pt x="625281" y="812800"/>
                    <a:pt x="805626" y="630849"/>
                    <a:pt x="805626" y="406400"/>
                  </a:cubicBezTo>
                  <a:cubicBezTo>
                    <a:pt x="805626" y="181951"/>
                    <a:pt x="625281" y="0"/>
                    <a:pt x="402813" y="0"/>
                  </a:cubicBezTo>
                  <a:close/>
                </a:path>
              </a:pathLst>
            </a:custGeom>
            <a:solidFill>
              <a:srgbClr val="FFFFFF"/>
            </a:solidFill>
          </p:spPr>
        </p:sp>
        <p:sp>
          <p:nvSpPr>
            <p:cNvPr name="TextBox 12" id="12"/>
            <p:cNvSpPr txBox="true"/>
            <p:nvPr/>
          </p:nvSpPr>
          <p:spPr>
            <a:xfrm>
              <a:off x="75527" y="28575"/>
              <a:ext cx="654571" cy="708025"/>
            </a:xfrm>
            <a:prstGeom prst="rect">
              <a:avLst/>
            </a:prstGeom>
          </p:spPr>
          <p:txBody>
            <a:bodyPr anchor="ctr" rtlCol="false" tIns="50800" lIns="50800" bIns="50800" rIns="50800"/>
            <a:lstStyle/>
            <a:p>
              <a:pPr algn="ctr">
                <a:lnSpc>
                  <a:spcPts val="3219"/>
                </a:lnSpc>
              </a:pPr>
              <a:r>
                <a:rPr lang="en-US" b="true" sz="2299">
                  <a:solidFill>
                    <a:srgbClr val="0D3B8A"/>
                  </a:solidFill>
                  <a:latin typeface="Montserrat Classic Bold"/>
                  <a:ea typeface="Montserrat Classic Bold"/>
                  <a:cs typeface="Montserrat Classic Bold"/>
                  <a:sym typeface="Montserrat Classic Bold"/>
                </a:rPr>
                <a:t>2</a:t>
              </a:r>
            </a:p>
          </p:txBody>
        </p:sp>
      </p:grpSp>
      <p:sp>
        <p:nvSpPr>
          <p:cNvPr name="TextBox 13" id="13"/>
          <p:cNvSpPr txBox="true"/>
          <p:nvPr/>
        </p:nvSpPr>
        <p:spPr>
          <a:xfrm rot="0">
            <a:off x="10663616" y="4998849"/>
            <a:ext cx="7411256" cy="1622226"/>
          </a:xfrm>
          <a:prstGeom prst="rect">
            <a:avLst/>
          </a:prstGeom>
        </p:spPr>
        <p:txBody>
          <a:bodyPr anchor="t" rtlCol="false" tIns="0" lIns="0" bIns="0" rIns="0">
            <a:spAutoFit/>
          </a:bodyPr>
          <a:lstStyle/>
          <a:p>
            <a:pPr algn="l">
              <a:lnSpc>
                <a:spcPts val="4376"/>
              </a:lnSpc>
            </a:pPr>
            <a:r>
              <a:rPr lang="en-US" sz="2752">
                <a:solidFill>
                  <a:srgbClr val="FFFFFF"/>
                </a:solidFill>
                <a:latin typeface="Montserrat"/>
                <a:ea typeface="Montserrat"/>
                <a:cs typeface="Montserrat"/>
                <a:sym typeface="Montserrat"/>
              </a:rPr>
              <a:t>VibeRide góp phần nâng cao trải nghiệm người dùng và an toàn giao thông, tránh các nguy hiểm như buồn ngủ khi lái xe.</a:t>
            </a:r>
          </a:p>
        </p:txBody>
      </p:sp>
      <p:grpSp>
        <p:nvGrpSpPr>
          <p:cNvPr name="Group 14" id="14"/>
          <p:cNvGrpSpPr/>
          <p:nvPr/>
        </p:nvGrpSpPr>
        <p:grpSpPr>
          <a:xfrm rot="0">
            <a:off x="3620026" y="7691406"/>
            <a:ext cx="1021466" cy="1030562"/>
            <a:chOff x="0" y="0"/>
            <a:chExt cx="805626" cy="812800"/>
          </a:xfrm>
        </p:grpSpPr>
        <p:sp>
          <p:nvSpPr>
            <p:cNvPr name="Freeform 15" id="15"/>
            <p:cNvSpPr/>
            <p:nvPr/>
          </p:nvSpPr>
          <p:spPr>
            <a:xfrm flipH="false" flipV="false" rot="0">
              <a:off x="0" y="0"/>
              <a:ext cx="805626" cy="812800"/>
            </a:xfrm>
            <a:custGeom>
              <a:avLst/>
              <a:gdLst/>
              <a:ahLst/>
              <a:cxnLst/>
              <a:rect r="r" b="b" t="t" l="l"/>
              <a:pathLst>
                <a:path h="812800" w="805626">
                  <a:moveTo>
                    <a:pt x="402813" y="0"/>
                  </a:moveTo>
                  <a:cubicBezTo>
                    <a:pt x="180346" y="0"/>
                    <a:pt x="0" y="181951"/>
                    <a:pt x="0" y="406400"/>
                  </a:cubicBezTo>
                  <a:cubicBezTo>
                    <a:pt x="0" y="630849"/>
                    <a:pt x="180346" y="812800"/>
                    <a:pt x="402813" y="812800"/>
                  </a:cubicBezTo>
                  <a:cubicBezTo>
                    <a:pt x="625281" y="812800"/>
                    <a:pt x="805626" y="630849"/>
                    <a:pt x="805626" y="406400"/>
                  </a:cubicBezTo>
                  <a:cubicBezTo>
                    <a:pt x="805626" y="181951"/>
                    <a:pt x="625281" y="0"/>
                    <a:pt x="402813" y="0"/>
                  </a:cubicBezTo>
                  <a:close/>
                </a:path>
              </a:pathLst>
            </a:custGeom>
            <a:solidFill>
              <a:srgbClr val="FFFFFF"/>
            </a:solidFill>
          </p:spPr>
        </p:sp>
        <p:sp>
          <p:nvSpPr>
            <p:cNvPr name="TextBox 16" id="16"/>
            <p:cNvSpPr txBox="true"/>
            <p:nvPr/>
          </p:nvSpPr>
          <p:spPr>
            <a:xfrm>
              <a:off x="75527" y="28575"/>
              <a:ext cx="654571" cy="708025"/>
            </a:xfrm>
            <a:prstGeom prst="rect">
              <a:avLst/>
            </a:prstGeom>
          </p:spPr>
          <p:txBody>
            <a:bodyPr anchor="ctr" rtlCol="false" tIns="50800" lIns="50800" bIns="50800" rIns="50800"/>
            <a:lstStyle/>
            <a:p>
              <a:pPr algn="ctr">
                <a:lnSpc>
                  <a:spcPts val="3219"/>
                </a:lnSpc>
              </a:pPr>
              <a:r>
                <a:rPr lang="en-US" b="true" sz="2299">
                  <a:solidFill>
                    <a:srgbClr val="0D3B8A"/>
                  </a:solidFill>
                  <a:latin typeface="Montserrat Classic Bold"/>
                  <a:ea typeface="Montserrat Classic Bold"/>
                  <a:cs typeface="Montserrat Classic Bold"/>
                  <a:sym typeface="Montserrat Classic Bold"/>
                </a:rPr>
                <a:t>3</a:t>
              </a:r>
            </a:p>
          </p:txBody>
        </p:sp>
      </p:grpSp>
      <p:sp>
        <p:nvSpPr>
          <p:cNvPr name="TextBox 17" id="17"/>
          <p:cNvSpPr txBox="true"/>
          <p:nvPr/>
        </p:nvSpPr>
        <p:spPr>
          <a:xfrm rot="0">
            <a:off x="4844078" y="7586631"/>
            <a:ext cx="10939812" cy="1622226"/>
          </a:xfrm>
          <a:prstGeom prst="rect">
            <a:avLst/>
          </a:prstGeom>
        </p:spPr>
        <p:txBody>
          <a:bodyPr anchor="t" rtlCol="false" tIns="0" lIns="0" bIns="0" rIns="0">
            <a:spAutoFit/>
          </a:bodyPr>
          <a:lstStyle/>
          <a:p>
            <a:pPr algn="l">
              <a:lnSpc>
                <a:spcPts val="4376"/>
              </a:lnSpc>
            </a:pPr>
            <a:r>
              <a:rPr lang="en-US" sz="2752">
                <a:solidFill>
                  <a:srgbClr val="FFFFFF"/>
                </a:solidFill>
                <a:latin typeface="Montserrat"/>
                <a:ea typeface="Montserrat"/>
                <a:cs typeface="Montserrat"/>
                <a:sym typeface="Montserrat"/>
              </a:rPr>
              <a:t>VibeRide có tiềm năng mở rộng và phát triển trong tương lai, khi nhà sản xuất xe ngày càng chú ý đến giải trí trên xe hơi.</a:t>
            </a:r>
          </a:p>
          <a:p>
            <a:pPr algn="l">
              <a:lnSpc>
                <a:spcPts val="4376"/>
              </a:lnSpc>
            </a:p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74832" y="4297780"/>
            <a:ext cx="17008567" cy="1605715"/>
          </a:xfrm>
          <a:prstGeom prst="rect">
            <a:avLst/>
          </a:prstGeom>
        </p:spPr>
        <p:txBody>
          <a:bodyPr anchor="t" rtlCol="false" tIns="0" lIns="0" bIns="0" rIns="0">
            <a:spAutoFit/>
          </a:bodyPr>
          <a:lstStyle/>
          <a:p>
            <a:pPr algn="ctr">
              <a:lnSpc>
                <a:spcPts val="6521"/>
              </a:lnSpc>
            </a:pPr>
            <a:r>
              <a:rPr lang="en-US" b="true" sz="4657" spc="228">
                <a:solidFill>
                  <a:srgbClr val="1F407A"/>
                </a:solidFill>
                <a:latin typeface="Montserrat Bold"/>
                <a:ea typeface="Montserrat Bold"/>
                <a:cs typeface="Montserrat Bold"/>
                <a:sym typeface="Montserrat Bold"/>
              </a:rPr>
              <a:t>BÀI THUYẾT TRÌNH ĐÃ KẾT THÚC</a:t>
            </a:r>
          </a:p>
          <a:p>
            <a:pPr algn="ctr">
              <a:lnSpc>
                <a:spcPts val="6521"/>
              </a:lnSpc>
              <a:spcBef>
                <a:spcPct val="0"/>
              </a:spcBef>
            </a:pPr>
            <a:r>
              <a:rPr lang="en-US" b="true" sz="4657" spc="228">
                <a:solidFill>
                  <a:srgbClr val="1F407A"/>
                </a:solidFill>
                <a:latin typeface="Montserrat Bold"/>
                <a:ea typeface="Montserrat Bold"/>
                <a:cs typeface="Montserrat Bold"/>
                <a:sym typeface="Montserrat Bold"/>
              </a:rPr>
              <a:t>CẢM ƠN THẦY/CÔ VÀ MỌI NGƯỜI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DAGaeJyNK7c</dc:identifier>
  <dcterms:modified xsi:type="dcterms:W3CDTF">2011-08-01T06:04:30Z</dcterms:modified>
  <cp:revision>1</cp:revision>
  <dc:title>VibeRide - Hệ thống giải trí định hướng cảm xúc trên Android Automotive</dc:title>
</cp:coreProperties>
</file>